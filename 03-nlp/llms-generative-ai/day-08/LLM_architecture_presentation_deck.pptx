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Arial Bold" charset="1" panose="020B0704020202020204"/>
      <p:regular r:id="rId42"/>
    </p:embeddedFont>
    <p:embeddedFont>
      <p:font typeface="Arial" charset="1" panose="020B0604020202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notesMasters/notesMaster1.xml" Type="http://schemas.openxmlformats.org/officeDocument/2006/relationships/notesMaster"/><Relationship Id="rId4" Target="theme/theme1.xml" Type="http://schemas.openxmlformats.org/officeDocument/2006/relationships/theme"/><Relationship Id="rId40" Target="theme/theme2.xml" Type="http://schemas.openxmlformats.org/officeDocument/2006/relationships/theme"/><Relationship Id="rId41" Target="notesSlides/notesSlide1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2.xml" Type="http://schemas.openxmlformats.org/officeDocument/2006/relationships/notesSlide"/><Relationship Id="rId45" Target="notesSlides/notesSlide3.xml" Type="http://schemas.openxmlformats.org/officeDocument/2006/relationships/notesSlide"/><Relationship Id="rId46" Target="notesSlides/notesSlide4.xml" Type="http://schemas.openxmlformats.org/officeDocument/2006/relationships/notesSlide"/><Relationship Id="rId47" Target="notesSlides/notesSlide5.xml" Type="http://schemas.openxmlformats.org/officeDocument/2006/relationships/notesSlide"/><Relationship Id="rId48" Target="notesSlides/notesSlide6.xml" Type="http://schemas.openxmlformats.org/officeDocument/2006/relationships/notesSlide"/><Relationship Id="rId49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53" Target="notesSlides/notesSlide11.xml" Type="http://schemas.openxmlformats.org/officeDocument/2006/relationships/notesSlide"/><Relationship Id="rId54" Target="notesSlides/notesSlide12.xml" Type="http://schemas.openxmlformats.org/officeDocument/2006/relationships/notesSlide"/><Relationship Id="rId55" Target="notesSlides/notesSlide13.xml" Type="http://schemas.openxmlformats.org/officeDocument/2006/relationships/notesSlide"/><Relationship Id="rId56" Target="notesSlides/notesSlide14.xml" Type="http://schemas.openxmlformats.org/officeDocument/2006/relationships/notesSlide"/><Relationship Id="rId57" Target="notesSlides/notesSlide15.xml" Type="http://schemas.openxmlformats.org/officeDocument/2006/relationships/notesSlide"/><Relationship Id="rId58" Target="notesSlides/notesSlide16.xml" Type="http://schemas.openxmlformats.org/officeDocument/2006/relationships/notesSlide"/><Relationship Id="rId59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8.xml" Type="http://schemas.openxmlformats.org/officeDocument/2006/relationships/notesSlide"/><Relationship Id="rId61" Target="notesSlides/notesSlide19.xml" Type="http://schemas.openxmlformats.org/officeDocument/2006/relationships/notesSlide"/><Relationship Id="rId62" Target="notesSlides/notesSlide20.xml" Type="http://schemas.openxmlformats.org/officeDocument/2006/relationships/notesSlide"/><Relationship Id="rId63" Target="notesSlides/notesSlide21.xml" Type="http://schemas.openxmlformats.org/officeDocument/2006/relationships/notesSlide"/><Relationship Id="rId64" Target="notesSlides/notesSlide22.xml" Type="http://schemas.openxmlformats.org/officeDocument/2006/relationships/notesSlide"/><Relationship Id="rId65" Target="notesSlides/notesSlide23.xml" Type="http://schemas.openxmlformats.org/officeDocument/2006/relationships/notesSlide"/><Relationship Id="rId66" Target="notesSlides/notesSlide24.xml" Type="http://schemas.openxmlformats.org/officeDocument/2006/relationships/notesSlide"/><Relationship Id="rId67" Target="notesSlides/notesSlide25.xml" Type="http://schemas.openxmlformats.org/officeDocument/2006/relationships/notesSlide"/><Relationship Id="rId68" Target="notesSlides/notesSlide26.xml" Type="http://schemas.openxmlformats.org/officeDocument/2006/relationships/notesSlide"/><Relationship Id="rId69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8.xml" Type="http://schemas.openxmlformats.org/officeDocument/2006/relationships/notesSlide"/><Relationship Id="rId71" Target="notesSlides/notesSlide29.xml" Type="http://schemas.openxmlformats.org/officeDocument/2006/relationships/notesSlide"/><Relationship Id="rId72" Target="notesSlides/notesSlide30.xml" Type="http://schemas.openxmlformats.org/officeDocument/2006/relationships/notesSlide"/><Relationship Id="rId73" Target="notesSlides/notesSlide31.xml" Type="http://schemas.openxmlformats.org/officeDocument/2006/relationships/notesSlide"/><Relationship Id="rId74" Target="notesSlides/notesSlide32.xml" Type="http://schemas.openxmlformats.org/officeDocument/2006/relationships/notesSlide"/><Relationship Id="rId75" Target="notesSlides/notesSlide33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Welcome students. Frame the session as one continuous story: from what an LLM is, through how modern LLMs are built and made efficient, to how we control them with prompts.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Quick refresher, not a first exposure — they've seen Transformers before. Emphasize the three words: Large (parameter scale + training data), Language (text in, text out), Model (a statistical function).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single idea everything else builds on. Walk through the probability bars — the model doesn't 'know' the answer, it ranks candidates.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the loop: predict, append, repeat. This loop is the reason generation is inherently sequential — which matters later for the cost discussion.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Point out this connects directly to the cost story: more tokens = more compute, and context length is a hard ceiling on what the model can see.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Subword tokenization is the reason 'unbelievable' split the way it did on the last slide — walk the table left to right and land on why modern LLMs use subwords.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knobs act on the same probability distribution from the last slide — tie each one back to the mat/chair/floor/rug bars before moving on.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Set the scope: this session focuses on how the model runs at inference — but it's worth being clear on how it got its behavior in the first place. Don't dwell — this is context, not the core material.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Move fast through RNN/LSTM — they know this. The point is that the Transformer's parallel attention is what unlocked scale.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recap, not new material — move quickly through the four boxes and confirm nothing is unfamiliar before moving on.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Ground the refresher in the real figure — point out the encoder stack (left) and decoder stack (right) matching what was just reviewed.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Pose this as a genuine question to the room before answering it on the next slides. Avoid framing the Transformer as flawed — frame it as a scaling challenge.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visual that should make the redundancy click before we name the fix. Every row recomputes the muted tokens from scratch.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Name the fix. Emphasize: Key and Value representations of past tokens never change once computed — only Query is new each step.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 clean wins, then the tradeoff. Land on the tradeoff — it sets up the rest of the section.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factor multiplies memory: longer context, bigger models, more heads, more concurrent users. This motivates GQA in the next section.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Standard MHA: every query head gets its own dedicated key/value head. Best quality, largest cache.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MQA collapses all K/V heads into one. Cheapest cache, but note the quality tradeoff before moving to GQA.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GQA is the compromise: groups of query heads share a KV head. This is what most modern LLMs actually ship.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Read the table left to right, then land on GQA as the practical compromise most current models choose.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Tie it back to serving: this is what lets a model handle more users and longer context at the same hardware budget. Avoid overstating exact numbers.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Set up that LLaMA is real evidence of these ideas combined — not a re-derivation of the original 2017 Transformer.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the pipeline top to bottom, then the tags on the right. Note that GQA applies to some LLaMA generations, not all — don't overclaim.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full figure the previous slide's crops were pulled from — use it to point out where each labeled component sits in context.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technical section's recap slide — walk the whole chain once, slowly, before pivoting to prompting.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pivot slide for the second half of the session. Give it a beat before moving on.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Define it simply, then let the two boxes do the teaching — a vague prompt vs a precise one, same task.</a:t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Six ingredients — emphasize that not every prompt needs all six. This is a checklist, not a template.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Four techniques, increasing in how much reasoning structure they ask the model to show. Read each example aloud — CoT and ToT work by making the model externalize intermediate reasoning instead of jumping to an answer.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format controls matter for real applications — a JSON response can be parsed by code, a word limit fits a UI card.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Give students a few minutes. Circulate and check that the 'improved' prompt actually uses role, context, constraints, and output format.</a:t>
            </a:r>
          </a:p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Have students pick their own three examples before writing the prompt — the quality of the examples is the exercise, not the wording around them.</a:t>
            </a:r>
          </a:p>
          <a:p>
            <a:r>
              <a:rPr lang="en-US"/>
              <a:t>33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Run both prompts and compare the raw answers, not just the reasoning — the point is that showing work catches errors a direct answer hides.</a:t>
            </a:r>
          </a:p>
          <a:p>
            <a:r>
              <a:rPr lang="en-US"/>
              <a:t>34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06127" y="693934"/>
            <a:ext cx="108967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SESSION 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01728" y="3321053"/>
            <a:ext cx="14665328" cy="271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3"/>
              </a:lnSpc>
            </a:pPr>
            <a:r>
              <a:rPr lang="en-US" b="true" sz="10500" spc="-157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Large Language Models &amp; Generative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6359528"/>
            <a:ext cx="1755140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From Transformers to LLaMA to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What is an LLM?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445021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Large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4014587"/>
            <a:ext cx="3716531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Billions of parameters, trained on massive text corpora.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83203" y="3445021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Language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83203" y="4014587"/>
            <a:ext cx="3716531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Operates on human language — text goes in, text comes out.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8003" y="3445021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8003" y="4014587"/>
            <a:ext cx="3716531" cy="116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A statistical function mapping input tokens to output probabilities.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25403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The core idea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38238" y="3424390"/>
            <a:ext cx="7039806" cy="962025"/>
            <a:chOff x="0" y="0"/>
            <a:chExt cx="9386408" cy="128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86408" cy="1282700"/>
            </a:xfrm>
            <a:custGeom>
              <a:avLst/>
              <a:gdLst/>
              <a:ahLst/>
              <a:cxnLst/>
              <a:rect r="r" b="b" t="t" l="l"/>
              <a:pathLst>
                <a:path h="1282700" w="9386408">
                  <a:moveTo>
                    <a:pt x="0" y="0"/>
                  </a:moveTo>
                  <a:lnTo>
                    <a:pt x="9386408" y="0"/>
                  </a:lnTo>
                  <a:lnTo>
                    <a:pt x="9386408" y="1282700"/>
                  </a:lnTo>
                  <a:lnTo>
                    <a:pt x="0" y="1282700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40091" y="3492646"/>
            <a:ext cx="6709587" cy="59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"The cat is sitting on the ___"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4654696"/>
            <a:ext cx="1520828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mat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43200" y="4807296"/>
            <a:ext cx="6134100" cy="247650"/>
            <a:chOff x="0" y="0"/>
            <a:chExt cx="8178800" cy="33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78800" cy="330200"/>
            </a:xfrm>
            <a:custGeom>
              <a:avLst/>
              <a:gdLst/>
              <a:ahLst/>
              <a:cxnLst/>
              <a:rect r="r" b="b" t="t" l="l"/>
              <a:pathLst>
                <a:path h="330200" w="8178800">
                  <a:moveTo>
                    <a:pt x="0" y="0"/>
                  </a:moveTo>
                  <a:lnTo>
                    <a:pt x="8178800" y="0"/>
                  </a:lnTo>
                  <a:lnTo>
                    <a:pt x="8178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9E9E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43200" y="4807296"/>
            <a:ext cx="3803009" cy="247650"/>
            <a:chOff x="0" y="0"/>
            <a:chExt cx="5070678" cy="330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70729" cy="330200"/>
            </a:xfrm>
            <a:custGeom>
              <a:avLst/>
              <a:gdLst/>
              <a:ahLst/>
              <a:cxnLst/>
              <a:rect r="r" b="b" t="t" l="l"/>
              <a:pathLst>
                <a:path h="330200" w="5070729">
                  <a:moveTo>
                    <a:pt x="0" y="0"/>
                  </a:moveTo>
                  <a:lnTo>
                    <a:pt x="5070729" y="0"/>
                  </a:lnTo>
                  <a:lnTo>
                    <a:pt x="5070729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5980A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997953" y="4654696"/>
            <a:ext cx="69215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3" y="5201345"/>
            <a:ext cx="1520828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chair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43200" y="5353945"/>
            <a:ext cx="6134100" cy="247650"/>
            <a:chOff x="0" y="0"/>
            <a:chExt cx="8178800" cy="33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78800" cy="330200"/>
            </a:xfrm>
            <a:custGeom>
              <a:avLst/>
              <a:gdLst/>
              <a:ahLst/>
              <a:cxnLst/>
              <a:rect r="r" b="b" t="t" l="l"/>
              <a:pathLst>
                <a:path h="330200" w="8178800">
                  <a:moveTo>
                    <a:pt x="0" y="0"/>
                  </a:moveTo>
                  <a:lnTo>
                    <a:pt x="8178800" y="0"/>
                  </a:lnTo>
                  <a:lnTo>
                    <a:pt x="8178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9E9E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0" y="5353945"/>
            <a:ext cx="1288104" cy="247650"/>
            <a:chOff x="0" y="0"/>
            <a:chExt cx="1717472" cy="33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7421" cy="330200"/>
            </a:xfrm>
            <a:custGeom>
              <a:avLst/>
              <a:gdLst/>
              <a:ahLst/>
              <a:cxnLst/>
              <a:rect r="r" b="b" t="t" l="l"/>
              <a:pathLst>
                <a:path h="330200" w="1717421">
                  <a:moveTo>
                    <a:pt x="0" y="0"/>
                  </a:moveTo>
                  <a:lnTo>
                    <a:pt x="1717421" y="0"/>
                  </a:lnTo>
                  <a:lnTo>
                    <a:pt x="1717421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5980A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97953" y="5201345"/>
            <a:ext cx="69215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5747995"/>
            <a:ext cx="1520828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floor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743200" y="5900585"/>
            <a:ext cx="6134100" cy="247650"/>
            <a:chOff x="0" y="0"/>
            <a:chExt cx="81788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78800" cy="330200"/>
            </a:xfrm>
            <a:custGeom>
              <a:avLst/>
              <a:gdLst/>
              <a:ahLst/>
              <a:cxnLst/>
              <a:rect r="r" b="b" t="t" l="l"/>
              <a:pathLst>
                <a:path h="330200" w="8178800">
                  <a:moveTo>
                    <a:pt x="0" y="0"/>
                  </a:moveTo>
                  <a:lnTo>
                    <a:pt x="8178800" y="0"/>
                  </a:lnTo>
                  <a:lnTo>
                    <a:pt x="8178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9E9E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743200" y="5900585"/>
            <a:ext cx="674637" cy="247650"/>
            <a:chOff x="0" y="0"/>
            <a:chExt cx="899516" cy="330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9541" cy="330200"/>
            </a:xfrm>
            <a:custGeom>
              <a:avLst/>
              <a:gdLst/>
              <a:ahLst/>
              <a:cxnLst/>
              <a:rect r="r" b="b" t="t" l="l"/>
              <a:pathLst>
                <a:path h="330200" w="899541">
                  <a:moveTo>
                    <a:pt x="0" y="0"/>
                  </a:moveTo>
                  <a:lnTo>
                    <a:pt x="899541" y="0"/>
                  </a:lnTo>
                  <a:lnTo>
                    <a:pt x="899541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5980A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997953" y="5747995"/>
            <a:ext cx="69215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8403" y="6294634"/>
            <a:ext cx="1520828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rug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743200" y="6447234"/>
            <a:ext cx="6134100" cy="247650"/>
            <a:chOff x="0" y="0"/>
            <a:chExt cx="8178800" cy="33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78800" cy="330200"/>
            </a:xfrm>
            <a:custGeom>
              <a:avLst/>
              <a:gdLst/>
              <a:ahLst/>
              <a:cxnLst/>
              <a:rect r="r" b="b" t="t" l="l"/>
              <a:pathLst>
                <a:path h="330200" w="8178800">
                  <a:moveTo>
                    <a:pt x="0" y="0"/>
                  </a:moveTo>
                  <a:lnTo>
                    <a:pt x="8178800" y="0"/>
                  </a:lnTo>
                  <a:lnTo>
                    <a:pt x="8178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9E9E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743200" y="6447234"/>
            <a:ext cx="367903" cy="247650"/>
            <a:chOff x="0" y="0"/>
            <a:chExt cx="490538" cy="330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0474" cy="330200"/>
            </a:xfrm>
            <a:custGeom>
              <a:avLst/>
              <a:gdLst/>
              <a:ahLst/>
              <a:cxnLst/>
              <a:rect r="r" b="b" t="t" l="l"/>
              <a:pathLst>
                <a:path h="330200" w="490474">
                  <a:moveTo>
                    <a:pt x="0" y="0"/>
                  </a:moveTo>
                  <a:lnTo>
                    <a:pt x="490474" y="0"/>
                  </a:lnTo>
                  <a:lnTo>
                    <a:pt x="490474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5980A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997953" y="6294634"/>
            <a:ext cx="69215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403" y="7660434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An LLM predicts the next token based on the tokens that came before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3332" y="1746879"/>
            <a:ext cx="9225611" cy="9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Autoregressive generation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72807" y="3424390"/>
            <a:ext cx="1252785" cy="784774"/>
            <a:chOff x="0" y="0"/>
            <a:chExt cx="1670380" cy="1046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0393" cy="1046353"/>
            </a:xfrm>
            <a:custGeom>
              <a:avLst/>
              <a:gdLst/>
              <a:ahLst/>
              <a:cxnLst/>
              <a:rect r="r" b="b" t="t" l="l"/>
              <a:pathLst>
                <a:path h="1046353" w="1670393">
                  <a:moveTo>
                    <a:pt x="0" y="0"/>
                  </a:moveTo>
                  <a:lnTo>
                    <a:pt x="1670393" y="0"/>
                  </a:lnTo>
                  <a:lnTo>
                    <a:pt x="1670393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23332" y="3540271"/>
            <a:ext cx="1115316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Prompt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9826" y="3648513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040409" y="3424390"/>
            <a:ext cx="1748733" cy="784774"/>
            <a:chOff x="0" y="0"/>
            <a:chExt cx="2331644" cy="1046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1593" cy="1046353"/>
            </a:xfrm>
            <a:custGeom>
              <a:avLst/>
              <a:gdLst/>
              <a:ahLst/>
              <a:cxnLst/>
              <a:rect r="r" b="b" t="t" l="l"/>
              <a:pathLst>
                <a:path h="1046353" w="2331593">
                  <a:moveTo>
                    <a:pt x="0" y="0"/>
                  </a:moveTo>
                  <a:lnTo>
                    <a:pt x="2331593" y="0"/>
                  </a:lnTo>
                  <a:lnTo>
                    <a:pt x="2331593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979496" y="3540271"/>
            <a:ext cx="187617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Predict token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8382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508308" y="3424390"/>
            <a:ext cx="1977981" cy="784774"/>
            <a:chOff x="0" y="0"/>
            <a:chExt cx="2637307" cy="1046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37320" cy="1046353"/>
            </a:xfrm>
            <a:custGeom>
              <a:avLst/>
              <a:gdLst/>
              <a:ahLst/>
              <a:cxnLst/>
              <a:rect r="r" b="b" t="t" l="l"/>
              <a:pathLst>
                <a:path h="1046353" w="2637320">
                  <a:moveTo>
                    <a:pt x="0" y="0"/>
                  </a:moveTo>
                  <a:lnTo>
                    <a:pt x="2637320" y="0"/>
                  </a:lnTo>
                  <a:lnTo>
                    <a:pt x="2637320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562648" y="3564222"/>
            <a:ext cx="194657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Append token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1447" y="3648513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018564" y="3424390"/>
            <a:ext cx="1410443" cy="784774"/>
            <a:chOff x="0" y="0"/>
            <a:chExt cx="1880591" cy="10463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0616" cy="1046353"/>
            </a:xfrm>
            <a:custGeom>
              <a:avLst/>
              <a:gdLst/>
              <a:ahLst/>
              <a:cxnLst/>
              <a:rect r="r" b="b" t="t" l="l"/>
              <a:pathLst>
                <a:path h="1046353" w="1880616">
                  <a:moveTo>
                    <a:pt x="0" y="0"/>
                  </a:moveTo>
                  <a:lnTo>
                    <a:pt x="1880616" y="0"/>
                  </a:lnTo>
                  <a:lnTo>
                    <a:pt x="1880616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248745" y="3540271"/>
            <a:ext cx="950071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1F">
                    <a:alpha val="4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Repeat ↻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3332" y="4808263"/>
            <a:ext cx="760962" cy="670474"/>
            <a:chOff x="0" y="0"/>
            <a:chExt cx="1014616" cy="893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4603" cy="893953"/>
            </a:xfrm>
            <a:custGeom>
              <a:avLst/>
              <a:gdLst/>
              <a:ahLst/>
              <a:cxnLst/>
              <a:rect r="r" b="b" t="t" l="l"/>
              <a:pathLst>
                <a:path h="893953" w="1014603">
                  <a:moveTo>
                    <a:pt x="0" y="0"/>
                  </a:moveTo>
                  <a:lnTo>
                    <a:pt x="1014603" y="0"/>
                  </a:lnTo>
                  <a:lnTo>
                    <a:pt x="1014603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047" t="0" r="-63048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38427" y="4891783"/>
            <a:ext cx="530771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The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303369" y="4808263"/>
            <a:ext cx="713184" cy="670474"/>
            <a:chOff x="0" y="0"/>
            <a:chExt cx="950912" cy="8939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849" cy="893953"/>
            </a:xfrm>
            <a:custGeom>
              <a:avLst/>
              <a:gdLst/>
              <a:ahLst/>
              <a:cxnLst/>
              <a:rect r="r" b="b" t="t" l="l"/>
              <a:pathLst>
                <a:path h="893953" w="950849">
                  <a:moveTo>
                    <a:pt x="0" y="0"/>
                  </a:moveTo>
                  <a:lnTo>
                    <a:pt x="950849" y="0"/>
                  </a:lnTo>
                  <a:lnTo>
                    <a:pt x="950849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624" t="0" r="-70631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2438648" y="4867004"/>
            <a:ext cx="445946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cat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35628" y="4808263"/>
            <a:ext cx="573138" cy="670474"/>
            <a:chOff x="0" y="0"/>
            <a:chExt cx="764184" cy="8939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4159" cy="893953"/>
            </a:xfrm>
            <a:custGeom>
              <a:avLst/>
              <a:gdLst/>
              <a:ahLst/>
              <a:cxnLst/>
              <a:rect r="r" b="b" t="t" l="l"/>
              <a:pathLst>
                <a:path h="893953" w="764159">
                  <a:moveTo>
                    <a:pt x="0" y="0"/>
                  </a:moveTo>
                  <a:lnTo>
                    <a:pt x="764159" y="0"/>
                  </a:lnTo>
                  <a:lnTo>
                    <a:pt x="764159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096" t="0" r="-100100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3349928" y="4891783"/>
            <a:ext cx="34295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is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027842" y="4808263"/>
            <a:ext cx="1012927" cy="670474"/>
            <a:chOff x="0" y="0"/>
            <a:chExt cx="1350569" cy="8939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50518" cy="893953"/>
            </a:xfrm>
            <a:custGeom>
              <a:avLst/>
              <a:gdLst/>
              <a:ahLst/>
              <a:cxnLst/>
              <a:rect r="r" b="b" t="t" l="l"/>
              <a:pathLst>
                <a:path h="893953" w="1350518">
                  <a:moveTo>
                    <a:pt x="0" y="0"/>
                  </a:moveTo>
                  <a:lnTo>
                    <a:pt x="1350518" y="0"/>
                  </a:lnTo>
                  <a:lnTo>
                    <a:pt x="1350518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27" t="0" r="-34931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109709" y="4909995"/>
            <a:ext cx="849182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sitting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259834" y="4808263"/>
            <a:ext cx="641899" cy="670474"/>
            <a:chOff x="0" y="0"/>
            <a:chExt cx="855866" cy="8939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5853" cy="893953"/>
            </a:xfrm>
            <a:custGeom>
              <a:avLst/>
              <a:gdLst/>
              <a:ahLst/>
              <a:cxnLst/>
              <a:rect r="r" b="b" t="t" l="l"/>
              <a:pathLst>
                <a:path h="8939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016" t="0" r="-84017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5397049" y="4890945"/>
            <a:ext cx="33119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120808" y="4808263"/>
            <a:ext cx="715566" cy="670474"/>
            <a:chOff x="0" y="0"/>
            <a:chExt cx="954088" cy="8939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4151" cy="893953"/>
            </a:xfrm>
            <a:custGeom>
              <a:avLst/>
              <a:gdLst/>
              <a:ahLst/>
              <a:cxnLst/>
              <a:rect r="r" b="b" t="t" l="l"/>
              <a:pathLst>
                <a:path h="893953" w="954151">
                  <a:moveTo>
                    <a:pt x="0" y="0"/>
                  </a:moveTo>
                  <a:lnTo>
                    <a:pt x="954151" y="0"/>
                  </a:lnTo>
                  <a:lnTo>
                    <a:pt x="954151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13" t="0" r="-70207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6235108" y="4891783"/>
            <a:ext cx="48537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the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55448" y="4808263"/>
            <a:ext cx="777926" cy="670474"/>
            <a:chOff x="0" y="0"/>
            <a:chExt cx="1037234" cy="8939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7209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209">
                  <a:moveTo>
                    <a:pt x="0" y="0"/>
                  </a:moveTo>
                  <a:lnTo>
                    <a:pt x="1037209" y="0"/>
                  </a:lnTo>
                  <a:lnTo>
                    <a:pt x="1037209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583" t="0" r="-60585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7169748" y="4891783"/>
            <a:ext cx="54773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mat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3332" y="6374087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Each new token is generated one at a time and appended to the growing sequence.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LLMs operate on tokens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2068" y="3424390"/>
            <a:ext cx="643538" cy="670474"/>
            <a:chOff x="0" y="0"/>
            <a:chExt cx="858050" cy="893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8012" cy="893953"/>
            </a:xfrm>
            <a:custGeom>
              <a:avLst/>
              <a:gdLst/>
              <a:ahLst/>
              <a:cxnLst/>
              <a:rect r="r" b="b" t="t" l="l"/>
              <a:pathLst>
                <a:path h="893953" w="858012">
                  <a:moveTo>
                    <a:pt x="0" y="0"/>
                  </a:moveTo>
                  <a:lnTo>
                    <a:pt x="858012" y="0"/>
                  </a:lnTo>
                  <a:lnTo>
                    <a:pt x="858012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77" t="0" r="-83682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68428" y="3483121"/>
            <a:ext cx="41081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un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12620" y="3424390"/>
            <a:ext cx="971550" cy="670474"/>
            <a:chOff x="0" y="0"/>
            <a:chExt cx="1295400" cy="8939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5400" cy="893953"/>
            </a:xfrm>
            <a:custGeom>
              <a:avLst/>
              <a:gdLst/>
              <a:ahLst/>
              <a:cxnLst/>
              <a:rect r="r" b="b" t="t" l="l"/>
              <a:pathLst>
                <a:path h="893953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3" t="0" r="-38543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94488" y="3483121"/>
            <a:ext cx="80781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believ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415015" y="3424390"/>
            <a:ext cx="970241" cy="670474"/>
            <a:chOff x="0" y="0"/>
            <a:chExt cx="1293654" cy="8939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3639" cy="893953"/>
            </a:xfrm>
            <a:custGeom>
              <a:avLst/>
              <a:gdLst/>
              <a:ahLst/>
              <a:cxnLst/>
              <a:rect r="r" b="b" t="t" l="l"/>
              <a:pathLst>
                <a:path h="893953" w="1293639">
                  <a:moveTo>
                    <a:pt x="0" y="0"/>
                  </a:moveTo>
                  <a:lnTo>
                    <a:pt x="1293639" y="0"/>
                  </a:lnTo>
                  <a:lnTo>
                    <a:pt x="1293639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993" t="0" r="-30333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3645196" y="3483121"/>
            <a:ext cx="571363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27871" y="3492646"/>
            <a:ext cx="2677601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"unbelievable" → 3 tokens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3" y="5437784"/>
            <a:ext cx="13587098" cy="25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Not raw words — sub-word pieces the model was trained to split text into.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Context length is measured in tokens: a hard limit on how much the model can see at once.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Every token processed costs compute — more tokens, higher inference cost.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Tokenization techniques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4121496"/>
            <a:ext cx="4000500" cy="9525"/>
            <a:chOff x="0" y="0"/>
            <a:chExt cx="5334000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3600602"/>
            <a:ext cx="3891915" cy="387544"/>
            <a:chOff x="0" y="0"/>
            <a:chExt cx="5189220" cy="516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TECHNIQUE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3500" y="4121496"/>
            <a:ext cx="4000500" cy="9525"/>
            <a:chOff x="0" y="0"/>
            <a:chExt cx="53340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43500" y="3600602"/>
            <a:ext cx="3891915" cy="387544"/>
            <a:chOff x="0" y="0"/>
            <a:chExt cx="5189220" cy="516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4121496"/>
            <a:ext cx="4000500" cy="9525"/>
            <a:chOff x="0" y="0"/>
            <a:chExt cx="533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0" y="3600602"/>
            <a:ext cx="3891915" cy="387544"/>
            <a:chOff x="0" y="0"/>
            <a:chExt cx="5189220" cy="516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VOCABULARY SIZE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44500" y="4121496"/>
            <a:ext cx="4000500" cy="9525"/>
            <a:chOff x="0" y="0"/>
            <a:chExt cx="53340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144500" y="3600602"/>
            <a:ext cx="3891915" cy="387544"/>
            <a:chOff x="0" y="0"/>
            <a:chExt cx="5189220" cy="516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UNSEEN WORDS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3000" y="4916834"/>
            <a:ext cx="4000500" cy="9525"/>
            <a:chOff x="0" y="0"/>
            <a:chExt cx="5334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43000" y="4302471"/>
            <a:ext cx="3891915" cy="481012"/>
            <a:chOff x="0" y="0"/>
            <a:chExt cx="5189220" cy="641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Word-level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43500" y="4916834"/>
            <a:ext cx="4000500" cy="9525"/>
            <a:chOff x="0" y="0"/>
            <a:chExt cx="533400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143500" y="4302471"/>
            <a:ext cx="3891915" cy="481012"/>
            <a:chOff x="0" y="0"/>
            <a:chExt cx="5189220" cy="641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Whole words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4916834"/>
            <a:ext cx="4000500" cy="9525"/>
            <a:chOff x="0" y="0"/>
            <a:chExt cx="53340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0" y="4302471"/>
            <a:ext cx="3891915" cy="481012"/>
            <a:chOff x="0" y="0"/>
            <a:chExt cx="5189220" cy="641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Very large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144500" y="4916834"/>
            <a:ext cx="4000500" cy="9525"/>
            <a:chOff x="0" y="0"/>
            <a:chExt cx="533400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144500" y="4302471"/>
            <a:ext cx="3891915" cy="481012"/>
            <a:chOff x="0" y="0"/>
            <a:chExt cx="5189220" cy="6413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Fails — out-of-vocabulary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3000" y="6155084"/>
            <a:ext cx="4000500" cy="9525"/>
            <a:chOff x="0" y="0"/>
            <a:chExt cx="5334000" cy="12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43000" y="5097809"/>
            <a:ext cx="3891915" cy="923925"/>
            <a:chOff x="0" y="0"/>
            <a:chExt cx="5189220" cy="1231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Character-level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43500" y="6155084"/>
            <a:ext cx="4000500" cy="9525"/>
            <a:chOff x="0" y="0"/>
            <a:chExt cx="53340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143500" y="5097809"/>
            <a:ext cx="3891915" cy="923925"/>
            <a:chOff x="0" y="0"/>
            <a:chExt cx="5189220" cy="12319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Single characters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0" y="6155084"/>
            <a:ext cx="4000500" cy="9525"/>
            <a:chOff x="0" y="0"/>
            <a:chExt cx="5334000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0" y="5097809"/>
            <a:ext cx="3891915" cy="923925"/>
            <a:chOff x="0" y="0"/>
            <a:chExt cx="5189220" cy="1231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Tiny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44500" y="6155084"/>
            <a:ext cx="4000500" cy="9525"/>
            <a:chOff x="0" y="0"/>
            <a:chExt cx="5334000" cy="12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144500" y="5097809"/>
            <a:ext cx="3891915" cy="923925"/>
            <a:chOff x="0" y="0"/>
            <a:chExt cx="5189220" cy="12319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Always handled, long sequences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43000" y="7393334"/>
            <a:ext cx="4000500" cy="9525"/>
            <a:chOff x="0" y="0"/>
            <a:chExt cx="5334000" cy="127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43000" y="6336059"/>
            <a:ext cx="3891915" cy="923925"/>
            <a:chOff x="0" y="0"/>
            <a:chExt cx="5189220" cy="12319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Subword (BPE / WordPiece)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43500" y="7393334"/>
            <a:ext cx="4000500" cy="9525"/>
            <a:chOff x="0" y="0"/>
            <a:chExt cx="5334000" cy="127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43500" y="6336059"/>
            <a:ext cx="3891915" cy="923925"/>
            <a:chOff x="0" y="0"/>
            <a:chExt cx="5189220" cy="12319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Frequent sub-word units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44000" y="7393334"/>
            <a:ext cx="4000500" cy="9525"/>
            <a:chOff x="0" y="0"/>
            <a:chExt cx="5334000" cy="127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44000" y="6336059"/>
            <a:ext cx="3891915" cy="923925"/>
            <a:chOff x="0" y="0"/>
            <a:chExt cx="5189220" cy="12319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Moderate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144500" y="7393334"/>
            <a:ext cx="4000500" cy="9525"/>
            <a:chOff x="0" y="0"/>
            <a:chExt cx="5334000" cy="127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144500" y="6336059"/>
            <a:ext cx="3891915" cy="923925"/>
            <a:chOff x="0" y="0"/>
            <a:chExt cx="5189220" cy="12319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89220" cy="1231900"/>
            </a:xfrm>
            <a:custGeom>
              <a:avLst/>
              <a:gdLst/>
              <a:ahLst/>
              <a:cxnLst/>
              <a:rect r="r" b="b" t="t" l="l"/>
              <a:pathLst>
                <a:path h="1231900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1231900"/>
                  </a:lnTo>
                  <a:lnTo>
                    <a:pt x="0" y="1231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78" r="0" b="-3207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04775"/>
              <a:ext cx="5189220" cy="133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Handled by splitting into pieces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168403" y="8290274"/>
            <a:ext cx="13607301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Modern LLMs use subword tokenization — a fixed, manageable vocabulary that can still represent any word by breaking rare ones into familiar pieces.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Controlling the next token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445021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Temperature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3938387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Scales the probability distribution before sampling — low values stay predictable, high values allow riskier tokens.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8003" y="3445021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Top-K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8003" y="3938387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Restricts sampling to the K most likely next tokens, discarding the long tail.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5646934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Top-P (nucleus)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8403" y="6140301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Samples from the smallest set of tokens whose combined probability passes 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8003" y="5646934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Max tokens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8003" y="6140301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Caps how many tokens the model is allowed to generate before it stops.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8403" y="7801223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Same next-token distribution as before — these parameters decide how it gets sampled.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195312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01 · WHAT IS AN LLM?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Phases of training an LLM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424390"/>
            <a:ext cx="1898399" cy="1034603"/>
            <a:chOff x="0" y="0"/>
            <a:chExt cx="2531199" cy="1379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1183" cy="1379454"/>
            </a:xfrm>
            <a:custGeom>
              <a:avLst/>
              <a:gdLst/>
              <a:ahLst/>
              <a:cxnLst/>
              <a:rect r="r" b="b" t="t" l="l"/>
              <a:pathLst>
                <a:path h="1379454" w="2531183">
                  <a:moveTo>
                    <a:pt x="0" y="0"/>
                  </a:moveTo>
                  <a:lnTo>
                    <a:pt x="2531183" y="0"/>
                  </a:lnTo>
                  <a:lnTo>
                    <a:pt x="2531183" y="1379454"/>
                  </a:lnTo>
                  <a:lnTo>
                    <a:pt x="0" y="1379454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20709" y="3689136"/>
            <a:ext cx="1434941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Pretraining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7099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05035" y="3424390"/>
            <a:ext cx="2173810" cy="1034603"/>
            <a:chOff x="0" y="0"/>
            <a:chExt cx="2898413" cy="1379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98451" cy="1379454"/>
            </a:xfrm>
            <a:custGeom>
              <a:avLst/>
              <a:gdLst/>
              <a:ahLst/>
              <a:cxnLst/>
              <a:rect r="r" b="b" t="t" l="l"/>
              <a:pathLst>
                <a:path h="1379454" w="2898451">
                  <a:moveTo>
                    <a:pt x="0" y="0"/>
                  </a:moveTo>
                  <a:lnTo>
                    <a:pt x="2898451" y="0"/>
                  </a:lnTo>
                  <a:lnTo>
                    <a:pt x="2898451" y="1379454"/>
                  </a:lnTo>
                  <a:lnTo>
                    <a:pt x="0" y="1379454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658060" y="3689136"/>
            <a:ext cx="1667760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Fine-tuning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6495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04431" y="3424390"/>
            <a:ext cx="1132717" cy="1034603"/>
            <a:chOff x="0" y="0"/>
            <a:chExt cx="1510289" cy="1379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0340" cy="1379454"/>
            </a:xfrm>
            <a:custGeom>
              <a:avLst/>
              <a:gdLst/>
              <a:ahLst/>
              <a:cxnLst/>
              <a:rect r="r" b="b" t="t" l="l"/>
              <a:pathLst>
                <a:path h="1379454" w="1510340">
                  <a:moveTo>
                    <a:pt x="0" y="0"/>
                  </a:moveTo>
                  <a:lnTo>
                    <a:pt x="1510340" y="0"/>
                  </a:lnTo>
                  <a:lnTo>
                    <a:pt x="1510340" y="1379454"/>
                  </a:lnTo>
                  <a:lnTo>
                    <a:pt x="0" y="1379454"/>
                  </a:lnTo>
                  <a:close/>
                </a:path>
              </a:pathLst>
            </a:custGeom>
            <a:solidFill>
              <a:srgbClr val="5980A6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379040" y="3689136"/>
            <a:ext cx="789911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F2F2F3"/>
                </a:solidFill>
                <a:latin typeface="Arial Bold"/>
                <a:ea typeface="Arial Bold"/>
                <a:cs typeface="Arial Bold"/>
                <a:sym typeface="Arial Bold"/>
              </a:rPr>
              <a:t>RLHF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403" y="5134670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Pretraining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8403" y="5704237"/>
            <a:ext cx="3716531" cy="153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Next-token prediction over massive raw text — this is where general language and world knowledge come from.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3203" y="5134670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Fine-tuning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3203" y="5704237"/>
            <a:ext cx="3716531" cy="153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Further training on curated instruction/task examples so the model learns to follow requests.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8003" y="5134670"/>
            <a:ext cx="397256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RLHF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8003" y="5704237"/>
            <a:ext cx="3716531" cy="153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Human feedback shapes a reward signal that steers the model toward helpful, safe responses.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751878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02 · TRANSFORMER → MODERN LLMS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8403" y="1644453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From NLP to LLMs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38238" y="3532701"/>
            <a:ext cx="957062" cy="784774"/>
            <a:chOff x="0" y="0"/>
            <a:chExt cx="1276083" cy="1046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6042" cy="1046353"/>
            </a:xfrm>
            <a:custGeom>
              <a:avLst/>
              <a:gdLst/>
              <a:ahLst/>
              <a:cxnLst/>
              <a:rect r="r" b="b" t="t" l="l"/>
              <a:pathLst>
                <a:path h="1046353" w="1276042">
                  <a:moveTo>
                    <a:pt x="0" y="0"/>
                  </a:moveTo>
                  <a:lnTo>
                    <a:pt x="1276042" y="0"/>
                  </a:lnTo>
                  <a:lnTo>
                    <a:pt x="1276042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91433" y="3672533"/>
            <a:ext cx="650672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1F">
                    <a:alpha val="4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RNN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6750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44686" y="3424390"/>
            <a:ext cx="1556442" cy="1049299"/>
            <a:chOff x="0" y="0"/>
            <a:chExt cx="2075256" cy="13990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5307" cy="1399048"/>
            </a:xfrm>
            <a:custGeom>
              <a:avLst/>
              <a:gdLst/>
              <a:ahLst/>
              <a:cxnLst/>
              <a:rect r="r" b="b" t="t" l="l"/>
              <a:pathLst>
                <a:path h="1399048" w="2075307">
                  <a:moveTo>
                    <a:pt x="0" y="0"/>
                  </a:moveTo>
                  <a:lnTo>
                    <a:pt x="2075307" y="0"/>
                  </a:lnTo>
                  <a:lnTo>
                    <a:pt x="2075307" y="1399048"/>
                  </a:lnTo>
                  <a:lnTo>
                    <a:pt x="0" y="1399048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974877" y="3540271"/>
            <a:ext cx="1096070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1F">
                    <a:alpha val="4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LSTM / GRU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15386" y="3753536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68794" y="3556652"/>
            <a:ext cx="2073031" cy="784774"/>
            <a:chOff x="0" y="0"/>
            <a:chExt cx="2764041" cy="1046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053" cy="1046353"/>
            </a:xfrm>
            <a:custGeom>
              <a:avLst/>
              <a:gdLst/>
              <a:ahLst/>
              <a:cxnLst/>
              <a:rect r="r" b="b" t="t" l="l"/>
              <a:pathLst>
                <a:path h="1046353" w="2764053">
                  <a:moveTo>
                    <a:pt x="0" y="0"/>
                  </a:moveTo>
                  <a:lnTo>
                    <a:pt x="2764053" y="0"/>
                  </a:lnTo>
                  <a:lnTo>
                    <a:pt x="2764053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398984" y="3672533"/>
            <a:ext cx="1690392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Transformer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28344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53833" y="3424390"/>
            <a:ext cx="1542755" cy="1049299"/>
            <a:chOff x="0" y="0"/>
            <a:chExt cx="2057006" cy="13990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7019" cy="1399048"/>
            </a:xfrm>
            <a:custGeom>
              <a:avLst/>
              <a:gdLst/>
              <a:ahLst/>
              <a:cxnLst/>
              <a:rect r="r" b="b" t="t" l="l"/>
              <a:pathLst>
                <a:path h="1399048" w="2057019">
                  <a:moveTo>
                    <a:pt x="0" y="0"/>
                  </a:moveTo>
                  <a:lnTo>
                    <a:pt x="2057019" y="0"/>
                  </a:lnTo>
                  <a:lnTo>
                    <a:pt x="2057019" y="1399048"/>
                  </a:lnTo>
                  <a:lnTo>
                    <a:pt x="0" y="1399048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7884014" y="3540271"/>
            <a:ext cx="108237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BERT / GPT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5819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3755" y="3424390"/>
            <a:ext cx="1699612" cy="1049299"/>
            <a:chOff x="0" y="0"/>
            <a:chExt cx="2266150" cy="13990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6188" cy="1399048"/>
            </a:xfrm>
            <a:custGeom>
              <a:avLst/>
              <a:gdLst/>
              <a:ahLst/>
              <a:cxnLst/>
              <a:rect r="r" b="b" t="t" l="l"/>
              <a:pathLst>
                <a:path h="1399048" w="2266188">
                  <a:moveTo>
                    <a:pt x="0" y="0"/>
                  </a:moveTo>
                  <a:lnTo>
                    <a:pt x="2266188" y="0"/>
                  </a:lnTo>
                  <a:lnTo>
                    <a:pt x="2266188" y="1399048"/>
                  </a:lnTo>
                  <a:lnTo>
                    <a:pt x="0" y="1399048"/>
                  </a:lnTo>
                  <a:close/>
                </a:path>
              </a:pathLst>
            </a:custGeom>
            <a:solidFill>
              <a:srgbClr val="5980A6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153945" y="3540271"/>
            <a:ext cx="1239241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F2F2F3"/>
                </a:solidFill>
                <a:latin typeface="Arial Bold"/>
                <a:ea typeface="Arial Bold"/>
                <a:cs typeface="Arial Bold"/>
                <a:sym typeface="Arial Bold"/>
              </a:rPr>
              <a:t>Modern LLMs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5087045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Modern LLMs build on the Transformer's parallel attention mechanism, not on recurrence.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751878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02 · TRANSFORMER → MODERN LLMS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Transformer refresher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445021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Self-attention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3938387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Each token weighs every other token to build a context-aware representation.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98003" y="3445021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Multi-head attention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98003" y="3938387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Several attention "views" run in parallel, each capturing different relationships.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5646934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Positional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8403" y="6140301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Order is injected explicitly — attention alone has no sense of sequence.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8003" y="5646934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Encoder / decoder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8003" y="6140301"/>
            <a:ext cx="7954775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Encoders read context; decoders generate output one token at a time.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9065" y="2008601"/>
            <a:ext cx="5923194" cy="8204067"/>
          </a:xfrm>
          <a:custGeom>
            <a:avLst/>
            <a:gdLst/>
            <a:ahLst/>
            <a:cxnLst/>
            <a:rect r="r" b="b" t="t" l="l"/>
            <a:pathLst>
              <a:path h="8204067" w="5923194">
                <a:moveTo>
                  <a:pt x="0" y="0"/>
                </a:moveTo>
                <a:lnTo>
                  <a:pt x="5923195" y="0"/>
                </a:lnTo>
                <a:lnTo>
                  <a:pt x="5923195" y="8204066"/>
                </a:lnTo>
                <a:lnTo>
                  <a:pt x="0" y="8204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8403" y="693934"/>
            <a:ext cx="3751878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02 · TRANSFORMER → MODERN LLMS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92314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The Transformer, from the paper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751878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02 · TRANSFORMER → MODERN LLMS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8403" y="2701928"/>
            <a:ext cx="14076683" cy="1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45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What becomes expensive when we scale autoregressive Transformers?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4694434"/>
            <a:ext cx="1755140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Generating token N needs information from every token before it — and that computation repeats at every step.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1441256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03 · KV CACHE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The inference bottleneck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522116"/>
            <a:ext cx="1730378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Token 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986088" y="3424390"/>
            <a:ext cx="557955" cy="670474"/>
            <a:chOff x="0" y="0"/>
            <a:chExt cx="743941" cy="893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3966" cy="893953"/>
            </a:xfrm>
            <a:custGeom>
              <a:avLst/>
              <a:gdLst/>
              <a:ahLst/>
              <a:cxnLst/>
              <a:rect r="r" b="b" t="t" l="l"/>
              <a:pathLst>
                <a:path h="893953" w="743966">
                  <a:moveTo>
                    <a:pt x="0" y="0"/>
                  </a:moveTo>
                  <a:lnTo>
                    <a:pt x="743966" y="0"/>
                  </a:lnTo>
                  <a:lnTo>
                    <a:pt x="743966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174" t="0" r="-104170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3139288" y="3484969"/>
            <a:ext cx="32776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4373566"/>
            <a:ext cx="1730378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Token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86088" y="4275830"/>
            <a:ext cx="557955" cy="670474"/>
            <a:chOff x="0" y="0"/>
            <a:chExt cx="743941" cy="8939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3966" cy="893953"/>
            </a:xfrm>
            <a:custGeom>
              <a:avLst/>
              <a:gdLst/>
              <a:ahLst/>
              <a:cxnLst/>
              <a:rect r="r" b="b" t="t" l="l"/>
              <a:pathLst>
                <a:path h="893953" w="743966">
                  <a:moveTo>
                    <a:pt x="0" y="0"/>
                  </a:moveTo>
                  <a:lnTo>
                    <a:pt x="743966" y="0"/>
                  </a:lnTo>
                  <a:lnTo>
                    <a:pt x="743966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174" t="0" r="-104170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139288" y="4334570"/>
            <a:ext cx="32776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63118" y="4275830"/>
            <a:ext cx="598141" cy="670474"/>
            <a:chOff x="0" y="0"/>
            <a:chExt cx="797522" cy="8939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7560" cy="893953"/>
            </a:xfrm>
            <a:custGeom>
              <a:avLst/>
              <a:gdLst/>
              <a:ahLst/>
              <a:cxnLst/>
              <a:rect r="r" b="b" t="t" l="l"/>
              <a:pathLst>
                <a:path h="893953" w="797560">
                  <a:moveTo>
                    <a:pt x="0" y="0"/>
                  </a:moveTo>
                  <a:lnTo>
                    <a:pt x="797560" y="0"/>
                  </a:lnTo>
                  <a:lnTo>
                    <a:pt x="79756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814" t="0" r="-93809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928989" y="4334570"/>
            <a:ext cx="266399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403" y="5225005"/>
            <a:ext cx="1730378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Token 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986088" y="5127279"/>
            <a:ext cx="557955" cy="670474"/>
            <a:chOff x="0" y="0"/>
            <a:chExt cx="743941" cy="8939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966" cy="893953"/>
            </a:xfrm>
            <a:custGeom>
              <a:avLst/>
              <a:gdLst/>
              <a:ahLst/>
              <a:cxnLst/>
              <a:rect r="r" b="b" t="t" l="l"/>
              <a:pathLst>
                <a:path h="893953" w="743966">
                  <a:moveTo>
                    <a:pt x="0" y="0"/>
                  </a:moveTo>
                  <a:lnTo>
                    <a:pt x="743966" y="0"/>
                  </a:lnTo>
                  <a:lnTo>
                    <a:pt x="743966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174" t="0" r="-104170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140869" y="5186020"/>
            <a:ext cx="250774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763118" y="5127279"/>
            <a:ext cx="598141" cy="670474"/>
            <a:chOff x="0" y="0"/>
            <a:chExt cx="797522" cy="893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7560" cy="893953"/>
            </a:xfrm>
            <a:custGeom>
              <a:avLst/>
              <a:gdLst/>
              <a:ahLst/>
              <a:cxnLst/>
              <a:rect r="r" b="b" t="t" l="l"/>
              <a:pathLst>
                <a:path h="893953" w="797560">
                  <a:moveTo>
                    <a:pt x="0" y="0"/>
                  </a:moveTo>
                  <a:lnTo>
                    <a:pt x="797560" y="0"/>
                  </a:lnTo>
                  <a:lnTo>
                    <a:pt x="79756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814" t="0" r="-93809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928989" y="5186020"/>
            <a:ext cx="266399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80334" y="5127279"/>
            <a:ext cx="598437" cy="670474"/>
            <a:chOff x="0" y="0"/>
            <a:chExt cx="797916" cy="8939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7941" cy="893953"/>
            </a:xfrm>
            <a:custGeom>
              <a:avLst/>
              <a:gdLst/>
              <a:ahLst/>
              <a:cxnLst/>
              <a:rect r="r" b="b" t="t" l="l"/>
              <a:pathLst>
                <a:path h="893953" w="797941">
                  <a:moveTo>
                    <a:pt x="0" y="0"/>
                  </a:moveTo>
                  <a:lnTo>
                    <a:pt x="797941" y="0"/>
                  </a:lnTo>
                  <a:lnTo>
                    <a:pt x="797941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745" t="0" r="-93742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4733099" y="5215480"/>
            <a:ext cx="292908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8403" y="6076455"/>
            <a:ext cx="1730378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Token 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986088" y="5978728"/>
            <a:ext cx="557955" cy="670474"/>
            <a:chOff x="0" y="0"/>
            <a:chExt cx="743941" cy="893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966" cy="893953"/>
            </a:xfrm>
            <a:custGeom>
              <a:avLst/>
              <a:gdLst/>
              <a:ahLst/>
              <a:cxnLst/>
              <a:rect r="r" b="b" t="t" l="l"/>
              <a:pathLst>
                <a:path h="893953" w="743966">
                  <a:moveTo>
                    <a:pt x="0" y="0"/>
                  </a:moveTo>
                  <a:lnTo>
                    <a:pt x="743966" y="0"/>
                  </a:lnTo>
                  <a:lnTo>
                    <a:pt x="743966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174" t="0" r="-104170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3140869" y="6037459"/>
            <a:ext cx="250774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t1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763118" y="5978728"/>
            <a:ext cx="598141" cy="670474"/>
            <a:chOff x="0" y="0"/>
            <a:chExt cx="797522" cy="8939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7560" cy="893953"/>
            </a:xfrm>
            <a:custGeom>
              <a:avLst/>
              <a:gdLst/>
              <a:ahLst/>
              <a:cxnLst/>
              <a:rect r="r" b="b" t="t" l="l"/>
              <a:pathLst>
                <a:path h="893953" w="797560">
                  <a:moveTo>
                    <a:pt x="0" y="0"/>
                  </a:moveTo>
                  <a:lnTo>
                    <a:pt x="797560" y="0"/>
                  </a:lnTo>
                  <a:lnTo>
                    <a:pt x="79756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814" t="0" r="-93809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3928989" y="6061410"/>
            <a:ext cx="266399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t2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580334" y="5978728"/>
            <a:ext cx="598437" cy="670474"/>
            <a:chOff x="0" y="0"/>
            <a:chExt cx="797916" cy="8939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7941" cy="893953"/>
            </a:xfrm>
            <a:custGeom>
              <a:avLst/>
              <a:gdLst/>
              <a:ahLst/>
              <a:cxnLst/>
              <a:rect r="r" b="b" t="t" l="l"/>
              <a:pathLst>
                <a:path h="893953" w="797941">
                  <a:moveTo>
                    <a:pt x="0" y="0"/>
                  </a:moveTo>
                  <a:lnTo>
                    <a:pt x="797941" y="0"/>
                  </a:lnTo>
                  <a:lnTo>
                    <a:pt x="797941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745" t="0" r="-93742" b="-1"/>
              </a:stretch>
            </a:blipFill>
            <a:ln w="9525" cap="sq">
              <a:solidFill>
                <a:srgbClr val="202020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4733099" y="6066920"/>
            <a:ext cx="292908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1E1E20">
                    <a:alpha val="40000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t3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397846" y="5978728"/>
            <a:ext cx="607219" cy="670474"/>
            <a:chOff x="0" y="0"/>
            <a:chExt cx="809625" cy="8939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9625" cy="893953"/>
            </a:xfrm>
            <a:custGeom>
              <a:avLst/>
              <a:gdLst/>
              <a:ahLst/>
              <a:cxnLst/>
              <a:rect r="r" b="b" t="t" l="l"/>
              <a:pathLst>
                <a:path h="893953" w="809625">
                  <a:moveTo>
                    <a:pt x="0" y="0"/>
                  </a:moveTo>
                  <a:lnTo>
                    <a:pt x="809625" y="0"/>
                  </a:lnTo>
                  <a:lnTo>
                    <a:pt x="809625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1669" t="0" r="-91669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5563718" y="6037459"/>
            <a:ext cx="275476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8403" y="7527084"/>
            <a:ext cx="13607301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Without caching, generating each new token recomputes attention over every token that came before it (muted chips).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1441256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03 · KV CACHE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What is KV Cache?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24870" y="3424390"/>
            <a:ext cx="2075507" cy="784774"/>
            <a:chOff x="0" y="0"/>
            <a:chExt cx="2767343" cy="1046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7290" cy="1046353"/>
            </a:xfrm>
            <a:custGeom>
              <a:avLst/>
              <a:gdLst/>
              <a:ahLst/>
              <a:cxnLst/>
              <a:rect r="r" b="b" t="t" l="l"/>
              <a:pathLst>
                <a:path h="1046353" w="2767290">
                  <a:moveTo>
                    <a:pt x="0" y="0"/>
                  </a:moveTo>
                  <a:lnTo>
                    <a:pt x="2767290" y="0"/>
                  </a:lnTo>
                  <a:lnTo>
                    <a:pt x="2767290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77318" y="3419795"/>
            <a:ext cx="1689792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Previous tokens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9306" y="3633060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63130" y="3424390"/>
            <a:ext cx="1814065" cy="784774"/>
            <a:chOff x="0" y="0"/>
            <a:chExt cx="2418753" cy="1046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8779" cy="1046353"/>
            </a:xfrm>
            <a:custGeom>
              <a:avLst/>
              <a:gdLst/>
              <a:ahLst/>
              <a:cxnLst/>
              <a:rect r="r" b="b" t="t" l="l"/>
              <a:pathLst>
                <a:path h="1046353" w="2418779">
                  <a:moveTo>
                    <a:pt x="0" y="0"/>
                  </a:moveTo>
                  <a:lnTo>
                    <a:pt x="2418779" y="0"/>
                  </a:lnTo>
                  <a:lnTo>
                    <a:pt x="2418779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017569" y="3370678"/>
            <a:ext cx="1431427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Compute K, 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49045" y="37087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78026" y="3395415"/>
            <a:ext cx="1840116" cy="982497"/>
            <a:chOff x="0" y="0"/>
            <a:chExt cx="2453488" cy="13099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3513" cy="1309980"/>
            </a:xfrm>
            <a:custGeom>
              <a:avLst/>
              <a:gdLst/>
              <a:ahLst/>
              <a:cxnLst/>
              <a:rect r="r" b="b" t="t" l="l"/>
              <a:pathLst>
                <a:path h="1309980" w="2453513">
                  <a:moveTo>
                    <a:pt x="0" y="0"/>
                  </a:moveTo>
                  <a:lnTo>
                    <a:pt x="2453513" y="0"/>
                  </a:lnTo>
                  <a:lnTo>
                    <a:pt x="2453513" y="1309980"/>
                  </a:lnTo>
                  <a:lnTo>
                    <a:pt x="0" y="1309980"/>
                  </a:lnTo>
                  <a:close/>
                </a:path>
              </a:pathLst>
            </a:custGeom>
            <a:solidFill>
              <a:srgbClr val="5980A6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525416" y="3419795"/>
            <a:ext cx="1379734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F2F2F3"/>
                </a:solidFill>
                <a:latin typeface="Arial Bold"/>
                <a:ea typeface="Arial Bold"/>
                <a:cs typeface="Arial Bold"/>
                <a:sym typeface="Arial Bold"/>
              </a:rPr>
              <a:t>Store in cache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24870" y="4606223"/>
            <a:ext cx="1474737" cy="784774"/>
            <a:chOff x="0" y="0"/>
            <a:chExt cx="1966316" cy="1046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6341" cy="1046353"/>
            </a:xfrm>
            <a:custGeom>
              <a:avLst/>
              <a:gdLst/>
              <a:ahLst/>
              <a:cxnLst/>
              <a:rect r="r" b="b" t="t" l="l"/>
              <a:pathLst>
                <a:path h="1046353" w="1966341">
                  <a:moveTo>
                    <a:pt x="0" y="0"/>
                  </a:moveTo>
                  <a:lnTo>
                    <a:pt x="1966341" y="0"/>
                  </a:lnTo>
                  <a:lnTo>
                    <a:pt x="1966341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55056" y="4510973"/>
            <a:ext cx="101436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New token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62215" y="482688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340151" y="4542530"/>
            <a:ext cx="1935366" cy="784774"/>
            <a:chOff x="0" y="0"/>
            <a:chExt cx="2580488" cy="1046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0513" cy="1046353"/>
            </a:xfrm>
            <a:custGeom>
              <a:avLst/>
              <a:gdLst/>
              <a:ahLst/>
              <a:cxnLst/>
              <a:rect r="r" b="b" t="t" l="l"/>
              <a:pathLst>
                <a:path h="1046353" w="2580513">
                  <a:moveTo>
                    <a:pt x="0" y="0"/>
                  </a:moveTo>
                  <a:lnTo>
                    <a:pt x="2580513" y="0"/>
                  </a:lnTo>
                  <a:lnTo>
                    <a:pt x="2580513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537642" y="4502768"/>
            <a:ext cx="1474984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Compute new Q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24748" y="482688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002684" y="4542530"/>
            <a:ext cx="2215458" cy="784774"/>
            <a:chOff x="0" y="0"/>
            <a:chExt cx="2953944" cy="10463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53893" cy="1046353"/>
            </a:xfrm>
            <a:custGeom>
              <a:avLst/>
              <a:gdLst/>
              <a:ahLst/>
              <a:cxnLst/>
              <a:rect r="r" b="b" t="t" l="l"/>
              <a:pathLst>
                <a:path h="1046353" w="2953893">
                  <a:moveTo>
                    <a:pt x="0" y="0"/>
                  </a:moveTo>
                  <a:lnTo>
                    <a:pt x="2953893" y="0"/>
                  </a:lnTo>
                  <a:lnTo>
                    <a:pt x="2953893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6201118" y="4502768"/>
            <a:ext cx="1755076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Reuse cached K, 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67382" y="482688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945318" y="4542530"/>
            <a:ext cx="2022281" cy="784774"/>
            <a:chOff x="0" y="0"/>
            <a:chExt cx="2696375" cy="10463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96337" cy="1046353"/>
            </a:xfrm>
            <a:custGeom>
              <a:avLst/>
              <a:gdLst/>
              <a:ahLst/>
              <a:cxnLst/>
              <a:rect r="r" b="b" t="t" l="l"/>
              <a:pathLst>
                <a:path h="1046353" w="2696337">
                  <a:moveTo>
                    <a:pt x="0" y="0"/>
                  </a:moveTo>
                  <a:lnTo>
                    <a:pt x="2696337" y="0"/>
                  </a:lnTo>
                  <a:lnTo>
                    <a:pt x="2696337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9143752" y="4502768"/>
            <a:ext cx="1561900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Attention output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4870" y="6251793"/>
            <a:ext cx="14539598" cy="151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Attention uses Query, Key, and Value — the Key and Value of past tokens don't change once computed.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They can be stored and reused instead of recomputed at every step.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1441256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03 · KV CACHE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Why KV Cache matters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127524"/>
            <a:ext cx="13587098" cy="25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Less redundant computation per generated token.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Faster token generation, especially over long sequences.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Better overall inference efficiency.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8238" y="6883156"/>
            <a:ext cx="16011525" cy="1114425"/>
            <a:chOff x="0" y="0"/>
            <a:chExt cx="21348700" cy="1485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487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21348700">
                  <a:moveTo>
                    <a:pt x="0" y="0"/>
                  </a:moveTo>
                  <a:lnTo>
                    <a:pt x="21348700" y="0"/>
                  </a:lnTo>
                  <a:lnTo>
                    <a:pt x="213487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951" r="0" b="-22995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82728" y="7027612"/>
            <a:ext cx="1580261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Trade-off: KV Cache consumes GPU memory.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1441256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03 · KV CACHE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Why it becomes a problem at scale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381527"/>
            <a:ext cx="8024498" cy="25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Long context windows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Large models — more layers, more heads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Multiple simultaneous users being served</a:t>
            </a:r>
          </a:p>
        </p:txBody>
      </p:sp>
      <p:sp>
        <p:nvSpPr>
          <p:cNvPr name="Freeform 5" id="5" descr="preencoded.png"/>
          <p:cNvSpPr/>
          <p:nvPr/>
        </p:nvSpPr>
        <p:spPr>
          <a:xfrm flipH="false" flipV="false" rot="0">
            <a:off x="9372600" y="3429152"/>
            <a:ext cx="7772400" cy="3303241"/>
          </a:xfrm>
          <a:custGeom>
            <a:avLst/>
            <a:gdLst/>
            <a:ahLst/>
            <a:cxnLst/>
            <a:rect r="r" b="b" t="t" l="l"/>
            <a:pathLst>
              <a:path h="3303241" w="7772400">
                <a:moveTo>
                  <a:pt x="0" y="0"/>
                </a:moveTo>
                <a:lnTo>
                  <a:pt x="7772400" y="0"/>
                </a:lnTo>
                <a:lnTo>
                  <a:pt x="7772400" y="3303242"/>
                </a:lnTo>
                <a:lnTo>
                  <a:pt x="0" y="3303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35259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04 · GROUPED QUERY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Multi-Head Attention</a:t>
            </a:r>
          </a:p>
        </p:txBody>
      </p:sp>
      <p:sp>
        <p:nvSpPr>
          <p:cNvPr name="Freeform 4" id="4" descr="preencoded.png"/>
          <p:cNvSpPr/>
          <p:nvPr/>
        </p:nvSpPr>
        <p:spPr>
          <a:xfrm flipH="false" flipV="false" rot="0">
            <a:off x="1132237" y="2762398"/>
            <a:ext cx="16002000" cy="3048000"/>
          </a:xfrm>
          <a:custGeom>
            <a:avLst/>
            <a:gdLst/>
            <a:ahLst/>
            <a:cxnLst/>
            <a:rect r="r" b="b" t="t" l="l"/>
            <a:pathLst>
              <a:path h="3048000" w="16002000">
                <a:moveTo>
                  <a:pt x="0" y="0"/>
                </a:moveTo>
                <a:lnTo>
                  <a:pt x="16002000" y="0"/>
                </a:lnTo>
                <a:lnTo>
                  <a:pt x="160020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8403" y="6352730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Every query head has its own key/value head — full quality, and the largest KV-cache footprint.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35259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04 · GROUPED QUERY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Multi-Query Attention</a:t>
            </a:r>
          </a:p>
        </p:txBody>
      </p:sp>
      <p:sp>
        <p:nvSpPr>
          <p:cNvPr name="Freeform 4" id="4" descr="preencoded.png"/>
          <p:cNvSpPr/>
          <p:nvPr/>
        </p:nvSpPr>
        <p:spPr>
          <a:xfrm flipH="false" flipV="false" rot="0">
            <a:off x="1157288" y="2898332"/>
            <a:ext cx="16002000" cy="3048000"/>
          </a:xfrm>
          <a:custGeom>
            <a:avLst/>
            <a:gdLst/>
            <a:ahLst/>
            <a:cxnLst/>
            <a:rect r="r" b="b" t="t" l="l"/>
            <a:pathLst>
              <a:path h="3048000" w="16002000">
                <a:moveTo>
                  <a:pt x="0" y="0"/>
                </a:moveTo>
                <a:lnTo>
                  <a:pt x="16002000" y="0"/>
                </a:lnTo>
                <a:lnTo>
                  <a:pt x="160020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8403" y="6216796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All query heads share one key/value head — minimal KV-cache size, at a quality cost.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35259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04 · GROUPED QUERY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502395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Grouped Query Attention</a:t>
            </a:r>
          </a:p>
        </p:txBody>
      </p:sp>
      <p:sp>
        <p:nvSpPr>
          <p:cNvPr name="Freeform 4" id="4" descr="preencoded.png"/>
          <p:cNvSpPr/>
          <p:nvPr/>
        </p:nvSpPr>
        <p:spPr>
          <a:xfrm flipH="false" flipV="false" rot="0">
            <a:off x="1132237" y="2762398"/>
            <a:ext cx="16002000" cy="3048000"/>
          </a:xfrm>
          <a:custGeom>
            <a:avLst/>
            <a:gdLst/>
            <a:ahLst/>
            <a:cxnLst/>
            <a:rect r="r" b="b" t="t" l="l"/>
            <a:pathLst>
              <a:path h="3048000" w="16002000">
                <a:moveTo>
                  <a:pt x="0" y="0"/>
                </a:moveTo>
                <a:lnTo>
                  <a:pt x="16002000" y="0"/>
                </a:lnTo>
                <a:lnTo>
                  <a:pt x="160020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8403" y="6216796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Multiple query heads share a smaller number of key/value heads — a middle ground between MHA and MQA.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35259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04 · GROUPED QUERY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MHA vs MQA vs GQA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8403" y="4084423"/>
            <a:ext cx="4000500" cy="9525"/>
            <a:chOff x="0" y="0"/>
            <a:chExt cx="5334000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8403" y="3563529"/>
            <a:ext cx="3891915" cy="387544"/>
            <a:chOff x="0" y="0"/>
            <a:chExt cx="5189220" cy="516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68903" y="4084423"/>
            <a:ext cx="4000500" cy="9525"/>
            <a:chOff x="0" y="0"/>
            <a:chExt cx="53340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68903" y="3563529"/>
            <a:ext cx="3891915" cy="387544"/>
            <a:chOff x="0" y="0"/>
            <a:chExt cx="5189220" cy="516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 HEADS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69403" y="4084423"/>
            <a:ext cx="4000500" cy="9525"/>
            <a:chOff x="0" y="0"/>
            <a:chExt cx="533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69403" y="3563529"/>
            <a:ext cx="3891915" cy="387544"/>
            <a:chOff x="0" y="0"/>
            <a:chExt cx="5189220" cy="516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KV HEADS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69903" y="4084423"/>
            <a:ext cx="4000500" cy="9525"/>
            <a:chOff x="0" y="0"/>
            <a:chExt cx="53340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D1F2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169903" y="3563529"/>
            <a:ext cx="3891915" cy="387544"/>
            <a:chOff x="0" y="0"/>
            <a:chExt cx="5189220" cy="516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9220" cy="516731"/>
            </a:xfrm>
            <a:custGeom>
              <a:avLst/>
              <a:gdLst/>
              <a:ahLst/>
              <a:cxnLst/>
              <a:rect r="r" b="b" t="t" l="l"/>
              <a:pathLst>
                <a:path h="516731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516731"/>
                  </a:lnTo>
                  <a:lnTo>
                    <a:pt x="0" y="516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677" r="0" b="-1456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5189220" cy="60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9"/>
                </a:lnSpc>
              </a:pPr>
              <a:r>
                <a:rPr lang="en-US" b="true" sz="1800" spc="107">
                  <a:solidFill>
                    <a:srgbClr val="41618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KV-CACHE MEMORY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8403" y="4879761"/>
            <a:ext cx="4000500" cy="9525"/>
            <a:chOff x="0" y="0"/>
            <a:chExt cx="5334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8403" y="4265398"/>
            <a:ext cx="3891915" cy="481012"/>
            <a:chOff x="0" y="0"/>
            <a:chExt cx="5189220" cy="641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MHA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68903" y="4879761"/>
            <a:ext cx="4000500" cy="9525"/>
            <a:chOff x="0" y="0"/>
            <a:chExt cx="533400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168903" y="4265398"/>
            <a:ext cx="3891915" cy="481012"/>
            <a:chOff x="0" y="0"/>
            <a:chExt cx="5189220" cy="641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Many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69403" y="4879761"/>
            <a:ext cx="4000500" cy="9525"/>
            <a:chOff x="0" y="0"/>
            <a:chExt cx="5334000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69403" y="4265398"/>
            <a:ext cx="3891915" cy="481012"/>
            <a:chOff x="0" y="0"/>
            <a:chExt cx="5189220" cy="641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Many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169903" y="4879761"/>
            <a:ext cx="4000500" cy="9525"/>
            <a:chOff x="0" y="0"/>
            <a:chExt cx="5334000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169903" y="4265398"/>
            <a:ext cx="3891915" cy="481012"/>
            <a:chOff x="0" y="0"/>
            <a:chExt cx="5189220" cy="6413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8403" y="5675098"/>
            <a:ext cx="4000500" cy="9525"/>
            <a:chOff x="0" y="0"/>
            <a:chExt cx="5334000" cy="12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8403" y="5060736"/>
            <a:ext cx="3891915" cy="481012"/>
            <a:chOff x="0" y="0"/>
            <a:chExt cx="5189220" cy="6413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MQA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68903" y="5675098"/>
            <a:ext cx="4000500" cy="9525"/>
            <a:chOff x="0" y="0"/>
            <a:chExt cx="53340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168903" y="5060736"/>
            <a:ext cx="3891915" cy="481012"/>
            <a:chOff x="0" y="0"/>
            <a:chExt cx="5189220" cy="6413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Many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69403" y="5675098"/>
            <a:ext cx="4000500" cy="9525"/>
            <a:chOff x="0" y="0"/>
            <a:chExt cx="5334000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69403" y="5060736"/>
            <a:ext cx="3891915" cy="481012"/>
            <a:chOff x="0" y="0"/>
            <a:chExt cx="5189220" cy="6413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69903" y="5675098"/>
            <a:ext cx="4000500" cy="9525"/>
            <a:chOff x="0" y="0"/>
            <a:chExt cx="5334000" cy="12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169903" y="5060736"/>
            <a:ext cx="3891915" cy="481012"/>
            <a:chOff x="0" y="0"/>
            <a:chExt cx="5189220" cy="6413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1D1F20"/>
                  </a:solidFill>
                  <a:latin typeface="Arial"/>
                  <a:ea typeface="Arial"/>
                  <a:cs typeface="Arial"/>
                  <a:sym typeface="Arial"/>
                </a:rPr>
                <a:t>Low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68403" y="6470436"/>
            <a:ext cx="4000500" cy="9525"/>
            <a:chOff x="0" y="0"/>
            <a:chExt cx="5334000" cy="127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68403" y="5856073"/>
            <a:ext cx="3891915" cy="481012"/>
            <a:chOff x="0" y="0"/>
            <a:chExt cx="5189220" cy="6413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GQA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68903" y="6470436"/>
            <a:ext cx="4000500" cy="9525"/>
            <a:chOff x="0" y="0"/>
            <a:chExt cx="5334000" cy="127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68903" y="5856073"/>
            <a:ext cx="3891915" cy="481012"/>
            <a:chOff x="0" y="0"/>
            <a:chExt cx="5189220" cy="6413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Many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69403" y="6470436"/>
            <a:ext cx="4000500" cy="9525"/>
            <a:chOff x="0" y="0"/>
            <a:chExt cx="5334000" cy="127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169403" y="5856073"/>
            <a:ext cx="3891915" cy="481012"/>
            <a:chOff x="0" y="0"/>
            <a:chExt cx="5189220" cy="6413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Some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169903" y="6470436"/>
            <a:ext cx="4000500" cy="9525"/>
            <a:chOff x="0" y="0"/>
            <a:chExt cx="5334000" cy="127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34000" cy="12700"/>
            </a:xfrm>
            <a:custGeom>
              <a:avLst/>
              <a:gdLst/>
              <a:ahLst/>
              <a:cxnLst/>
              <a:rect r="r" b="b" t="t" l="l"/>
              <a:pathLst>
                <a:path h="127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1F1F">
                <a:alpha val="2353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169903" y="5856073"/>
            <a:ext cx="3891915" cy="481012"/>
            <a:chOff x="0" y="0"/>
            <a:chExt cx="5189220" cy="6413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89220" cy="641349"/>
            </a:xfrm>
            <a:custGeom>
              <a:avLst/>
              <a:gdLst/>
              <a:ahLst/>
              <a:cxnLst/>
              <a:rect r="r" b="b" t="t" l="l"/>
              <a:pathLst>
                <a:path h="641349" w="5189220">
                  <a:moveTo>
                    <a:pt x="0" y="0"/>
                  </a:moveTo>
                  <a:lnTo>
                    <a:pt x="5189220" y="0"/>
                  </a:lnTo>
                  <a:lnTo>
                    <a:pt x="5189220" y="641349"/>
                  </a:lnTo>
                  <a:lnTo>
                    <a:pt x="0" y="641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5" r="0" b="-10765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04775"/>
              <a:ext cx="5189220" cy="746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2"/>
                </a:lnSpc>
              </a:pPr>
              <a:r>
                <a:rPr lang="en-US" sz="2250">
                  <a:solidFill>
                    <a:srgbClr val="416180"/>
                  </a:solidFill>
                  <a:latin typeface="Arial"/>
                  <a:ea typeface="Arial"/>
                  <a:cs typeface="Arial"/>
                  <a:sym typeface="Arial"/>
                </a:rPr>
                <a:t>Medium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168403" y="7404449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GQA is the compromise: most of MHA's quality, closer to MQA's memory footprint.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352590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04 · GROUPED QUERY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Why GQA matters for modern LLMs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264198"/>
            <a:ext cx="13587098" cy="25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Lower KV-cache memory per request.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Better serving efficiency on the same hardware.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Allows scaling to larger models, longer contexts, and more concurrent requests.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887429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05 · LLAMA &amp; MODERN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LLaMA as a real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8237" y="3264198"/>
            <a:ext cx="13587098" cy="257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A modern, decoder-only LLM architecture from Meta.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Modern LLMs are not simply "the original Transformer, copied directly."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LLaMA combines targeted refinements — the next slide shows where.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887429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05 · LLAMA &amp; MODERN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LLaMA architecture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440650" y="3464071"/>
            <a:ext cx="1253098" cy="497091"/>
            <a:chOff x="0" y="0"/>
            <a:chExt cx="1670797" cy="662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0730" cy="662813"/>
            </a:xfrm>
            <a:custGeom>
              <a:avLst/>
              <a:gdLst/>
              <a:ahLst/>
              <a:cxnLst/>
              <a:rect r="r" b="b" t="t" l="l"/>
              <a:pathLst>
                <a:path h="662813" w="1670730">
                  <a:moveTo>
                    <a:pt x="0" y="0"/>
                  </a:moveTo>
                  <a:lnTo>
                    <a:pt x="1670730" y="0"/>
                  </a:lnTo>
                  <a:lnTo>
                    <a:pt x="1670730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655734" y="3508360"/>
            <a:ext cx="894643" cy="3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Tokens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00577" y="4056412"/>
            <a:ext cx="133445" cy="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"/>
              </a:lnSpc>
            </a:pPr>
            <a:r>
              <a:rPr lang="en-US" sz="18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5785" y="4164901"/>
            <a:ext cx="2502841" cy="497091"/>
            <a:chOff x="0" y="0"/>
            <a:chExt cx="3337121" cy="6627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7070" cy="662813"/>
            </a:xfrm>
            <a:custGeom>
              <a:avLst/>
              <a:gdLst/>
              <a:ahLst/>
              <a:cxnLst/>
              <a:rect r="r" b="b" t="t" l="l"/>
              <a:pathLst>
                <a:path h="662813" w="3337070">
                  <a:moveTo>
                    <a:pt x="0" y="0"/>
                  </a:moveTo>
                  <a:lnTo>
                    <a:pt x="3337070" y="0"/>
                  </a:lnTo>
                  <a:lnTo>
                    <a:pt x="3337070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992112" y="4209190"/>
            <a:ext cx="2169546" cy="3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Token embeddings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00577" y="4757242"/>
            <a:ext cx="133445" cy="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"/>
              </a:lnSpc>
            </a:pPr>
            <a:r>
              <a:rPr lang="en-US" sz="18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764741" y="4865732"/>
            <a:ext cx="2605105" cy="497091"/>
            <a:chOff x="0" y="0"/>
            <a:chExt cx="3473473" cy="6627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3456" cy="662813"/>
            </a:xfrm>
            <a:custGeom>
              <a:avLst/>
              <a:gdLst/>
              <a:ahLst/>
              <a:cxnLst/>
              <a:rect r="r" b="b" t="t" l="l"/>
              <a:pathLst>
                <a:path h="662813" w="3473456">
                  <a:moveTo>
                    <a:pt x="0" y="0"/>
                  </a:moveTo>
                  <a:lnTo>
                    <a:pt x="3473456" y="0"/>
                  </a:lnTo>
                  <a:lnTo>
                    <a:pt x="3473456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937917" y="4910030"/>
            <a:ext cx="2278151" cy="3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Transformer blocks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00577" y="5458073"/>
            <a:ext cx="133445" cy="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"/>
              </a:lnSpc>
            </a:pPr>
            <a:r>
              <a:rPr lang="en-US" sz="18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75104" y="5566562"/>
            <a:ext cx="1984392" cy="497091"/>
            <a:chOff x="0" y="0"/>
            <a:chExt cx="2645856" cy="662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45856" cy="662813"/>
            </a:xfrm>
            <a:custGeom>
              <a:avLst/>
              <a:gdLst/>
              <a:ahLst/>
              <a:cxnLst/>
              <a:rect r="r" b="b" t="t" l="l"/>
              <a:pathLst>
                <a:path h="662813" w="2645856">
                  <a:moveTo>
                    <a:pt x="0" y="0"/>
                  </a:moveTo>
                  <a:lnTo>
                    <a:pt x="2645856" y="0"/>
                  </a:lnTo>
                  <a:lnTo>
                    <a:pt x="2645856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267523" y="5610861"/>
            <a:ext cx="1618951" cy="3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Self-attention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00577" y="6158903"/>
            <a:ext cx="133445" cy="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"/>
              </a:lnSpc>
            </a:pPr>
            <a:r>
              <a:rPr lang="en-US" sz="18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19953" y="6267393"/>
            <a:ext cx="2894693" cy="497091"/>
            <a:chOff x="0" y="0"/>
            <a:chExt cx="3859591" cy="6627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59642" cy="662813"/>
            </a:xfrm>
            <a:custGeom>
              <a:avLst/>
              <a:gdLst/>
              <a:ahLst/>
              <a:cxnLst/>
              <a:rect r="r" b="b" t="t" l="l"/>
              <a:pathLst>
                <a:path h="662813" w="3859642">
                  <a:moveTo>
                    <a:pt x="0" y="0"/>
                  </a:moveTo>
                  <a:lnTo>
                    <a:pt x="3859642" y="0"/>
                  </a:lnTo>
                  <a:lnTo>
                    <a:pt x="3859642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784152" y="6311691"/>
            <a:ext cx="2585694" cy="35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Feed-forward network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00577" y="6859734"/>
            <a:ext cx="133445" cy="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"/>
              </a:lnSpc>
            </a:pPr>
            <a:r>
              <a:rPr lang="en-US" sz="18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045001" y="6928542"/>
            <a:ext cx="1968256" cy="497091"/>
            <a:chOff x="0" y="0"/>
            <a:chExt cx="2624341" cy="6627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24328" cy="662813"/>
            </a:xfrm>
            <a:custGeom>
              <a:avLst/>
              <a:gdLst/>
              <a:ahLst/>
              <a:cxnLst/>
              <a:rect r="r" b="b" t="t" l="l"/>
              <a:pathLst>
                <a:path h="662813" w="2624328">
                  <a:moveTo>
                    <a:pt x="0" y="0"/>
                  </a:moveTo>
                  <a:lnTo>
                    <a:pt x="2624328" y="0"/>
                  </a:lnTo>
                  <a:lnTo>
                    <a:pt x="2624328" y="662813"/>
                  </a:lnTo>
                  <a:lnTo>
                    <a:pt x="0" y="662813"/>
                  </a:lnTo>
                  <a:close/>
                </a:path>
              </a:pathLst>
            </a:custGeom>
            <a:solidFill>
              <a:srgbClr val="5980A6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218041" y="6939658"/>
            <a:ext cx="1622174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 b="true">
                <a:solidFill>
                  <a:srgbClr val="F2F2F3"/>
                </a:solidFill>
                <a:latin typeface="Arial Bold"/>
                <a:ea typeface="Arial Bold"/>
                <a:cs typeface="Arial Bold"/>
                <a:sym typeface="Arial Bold"/>
              </a:rPr>
              <a:t>Output probabilities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15083" y="3241272"/>
            <a:ext cx="8498843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Modern components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884917" y="3837823"/>
            <a:ext cx="7781925" cy="670474"/>
            <a:chOff x="0" y="0"/>
            <a:chExt cx="10375900" cy="8939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75900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57" r="0" b="-176158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115108" y="3896563"/>
            <a:ext cx="75547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RoPE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884917" y="4651172"/>
            <a:ext cx="7781925" cy="670474"/>
            <a:chOff x="0" y="0"/>
            <a:chExt cx="10375900" cy="8939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75900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57" r="0" b="-176158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115108" y="4709912"/>
            <a:ext cx="75547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RMSNorm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884917" y="5464521"/>
            <a:ext cx="7781925" cy="670474"/>
            <a:chOff x="0" y="0"/>
            <a:chExt cx="10375900" cy="8939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375900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57" r="0" b="-176158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8115108" y="5523252"/>
            <a:ext cx="75547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SwiGLU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884917" y="6277861"/>
            <a:ext cx="7781925" cy="670474"/>
            <a:chOff x="0" y="0"/>
            <a:chExt cx="10375900" cy="8939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75900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57" r="0" b="-176158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8115108" y="6336601"/>
            <a:ext cx="75547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Causal attention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884917" y="7091210"/>
            <a:ext cx="7781925" cy="670474"/>
            <a:chOff x="0" y="0"/>
            <a:chExt cx="10375900" cy="8939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75900" cy="893953"/>
            </a:xfrm>
            <a:custGeom>
              <a:avLst/>
              <a:gdLst/>
              <a:ahLst/>
              <a:cxnLst/>
              <a:rect r="r" b="b" t="t" l="l"/>
              <a:pathLst>
                <a:path h="8939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57" r="0" b="-176158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8115108" y="7149951"/>
            <a:ext cx="75547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GQA (in later generations)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7032" y="-74146"/>
            <a:ext cx="7039006" cy="8808890"/>
          </a:xfrm>
          <a:custGeom>
            <a:avLst/>
            <a:gdLst/>
            <a:ahLst/>
            <a:cxnLst/>
            <a:rect r="r" b="b" t="t" l="l"/>
            <a:pathLst>
              <a:path h="8808890" w="7039006">
                <a:moveTo>
                  <a:pt x="0" y="0"/>
                </a:moveTo>
                <a:lnTo>
                  <a:pt x="7039007" y="0"/>
                </a:lnTo>
                <a:lnTo>
                  <a:pt x="7039007" y="8808890"/>
                </a:lnTo>
                <a:lnTo>
                  <a:pt x="0" y="880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651" y="176948"/>
            <a:ext cx="3887429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05 · LLAMA &amp; MODERN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948" y="587025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LLaMA, from the paper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8303" y="8958062"/>
            <a:ext cx="17551403" cy="42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18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Touvron et al. — "LLaMA: Open and Efficient Foundation Language Models"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3887429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05 · LLAMA &amp; MODERN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8403" y="1178158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Big picture recap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08049" y="3652990"/>
            <a:ext cx="1152373" cy="784774"/>
            <a:chOff x="0" y="0"/>
            <a:chExt cx="1536497" cy="1046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36446" cy="1046353"/>
            </a:xfrm>
            <a:custGeom>
              <a:avLst/>
              <a:gdLst/>
              <a:ahLst/>
              <a:cxnLst/>
              <a:rect r="r" b="b" t="t" l="l"/>
              <a:pathLst>
                <a:path h="1046353" w="1536446">
                  <a:moveTo>
                    <a:pt x="0" y="0"/>
                  </a:moveTo>
                  <a:lnTo>
                    <a:pt x="1536446" y="0"/>
                  </a:lnTo>
                  <a:lnTo>
                    <a:pt x="1536446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84249" y="3768871"/>
            <a:ext cx="999973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Tokens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9662" y="39373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187598" y="3652990"/>
            <a:ext cx="2983554" cy="784774"/>
            <a:chOff x="0" y="0"/>
            <a:chExt cx="3978072" cy="1046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78021" cy="1046353"/>
            </a:xfrm>
            <a:custGeom>
              <a:avLst/>
              <a:gdLst/>
              <a:ahLst/>
              <a:cxnLst/>
              <a:rect r="r" b="b" t="t" l="l"/>
              <a:pathLst>
                <a:path h="1046353" w="3978021">
                  <a:moveTo>
                    <a:pt x="0" y="0"/>
                  </a:moveTo>
                  <a:lnTo>
                    <a:pt x="3978021" y="0"/>
                  </a:lnTo>
                  <a:lnTo>
                    <a:pt x="3978021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3346464" y="3611566"/>
            <a:ext cx="2550054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Decoder-only Transformer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20393" y="39373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98329" y="3652990"/>
            <a:ext cx="1794272" cy="784774"/>
            <a:chOff x="0" y="0"/>
            <a:chExt cx="2392362" cy="1046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2426" cy="1046353"/>
            </a:xfrm>
            <a:custGeom>
              <a:avLst/>
              <a:gdLst/>
              <a:ahLst/>
              <a:cxnLst/>
              <a:rect r="r" b="b" t="t" l="l"/>
              <a:pathLst>
                <a:path h="1046353" w="2392426">
                  <a:moveTo>
                    <a:pt x="0" y="0"/>
                  </a:moveTo>
                  <a:lnTo>
                    <a:pt x="2392426" y="0"/>
                  </a:lnTo>
                  <a:lnTo>
                    <a:pt x="2392426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115081" y="3611566"/>
            <a:ext cx="1341185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Self-attention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1841" y="39373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19777" y="3652990"/>
            <a:ext cx="849954" cy="784774"/>
            <a:chOff x="0" y="0"/>
            <a:chExt cx="1133272" cy="10463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3221" cy="1046353"/>
            </a:xfrm>
            <a:custGeom>
              <a:avLst/>
              <a:gdLst/>
              <a:ahLst/>
              <a:cxnLst/>
              <a:rect r="r" b="b" t="t" l="l"/>
              <a:pathLst>
                <a:path h="1046353" w="1133221">
                  <a:moveTo>
                    <a:pt x="0" y="0"/>
                  </a:moveTo>
                  <a:lnTo>
                    <a:pt x="1133221" y="0"/>
                  </a:lnTo>
                  <a:lnTo>
                    <a:pt x="1133221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515476" y="3792822"/>
            <a:ext cx="65855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GQA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8972" y="39373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96908" y="3652990"/>
            <a:ext cx="2479481" cy="784774"/>
            <a:chOff x="0" y="0"/>
            <a:chExt cx="3305975" cy="1046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5937" cy="1046353"/>
            </a:xfrm>
            <a:custGeom>
              <a:avLst/>
              <a:gdLst/>
              <a:ahLst/>
              <a:cxnLst/>
              <a:rect r="r" b="b" t="t" l="l"/>
              <a:pathLst>
                <a:path h="1046353" w="3305937">
                  <a:moveTo>
                    <a:pt x="0" y="0"/>
                  </a:moveTo>
                  <a:lnTo>
                    <a:pt x="3305937" y="0"/>
                  </a:lnTo>
                  <a:lnTo>
                    <a:pt x="3305937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166767" y="3578509"/>
            <a:ext cx="2030127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KV Cache (inference)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25620" y="3937349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203556" y="3652990"/>
            <a:ext cx="2776242" cy="784774"/>
            <a:chOff x="0" y="0"/>
            <a:chExt cx="3701656" cy="10463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01669" cy="1046353"/>
            </a:xfrm>
            <a:custGeom>
              <a:avLst/>
              <a:gdLst/>
              <a:ahLst/>
              <a:cxnLst/>
              <a:rect r="r" b="b" t="t" l="l"/>
              <a:pathLst>
                <a:path h="1046353" w="3701669">
                  <a:moveTo>
                    <a:pt x="0" y="0"/>
                  </a:moveTo>
                  <a:lnTo>
                    <a:pt x="3701669" y="0"/>
                  </a:lnTo>
                  <a:lnTo>
                    <a:pt x="3701669" y="1046353"/>
                  </a:lnTo>
                  <a:lnTo>
                    <a:pt x="0" y="1046353"/>
                  </a:lnTo>
                  <a:close/>
                </a:path>
              </a:pathLst>
            </a:custGeom>
            <a:solidFill>
              <a:srgbClr val="F2F2F3"/>
            </a:solid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4421040" y="3578509"/>
            <a:ext cx="2335347" cy="83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Next-token probabilities</a:t>
            </a:r>
          </a:p>
        </p:txBody>
      </p:sp>
      <p:sp>
        <p:nvSpPr>
          <p:cNvPr name="TextBox 27" id="27"/>
          <p:cNvSpPr txBox="true"/>
          <p:nvPr/>
        </p:nvSpPr>
        <p:spPr>
          <a:xfrm rot="5400000">
            <a:off x="15421978" y="4726682"/>
            <a:ext cx="3048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55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649893" y="5435363"/>
            <a:ext cx="1883569" cy="1143147"/>
            <a:chOff x="0" y="0"/>
            <a:chExt cx="2511425" cy="15241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11425" cy="1524177"/>
            </a:xfrm>
            <a:custGeom>
              <a:avLst/>
              <a:gdLst/>
              <a:ahLst/>
              <a:cxnLst/>
              <a:rect r="r" b="b" t="t" l="l"/>
              <a:pathLst>
                <a:path h="1524177" w="2511425">
                  <a:moveTo>
                    <a:pt x="0" y="0"/>
                  </a:moveTo>
                  <a:lnTo>
                    <a:pt x="2511425" y="0"/>
                  </a:lnTo>
                  <a:lnTo>
                    <a:pt x="2511425" y="1524177"/>
                  </a:lnTo>
                  <a:lnTo>
                    <a:pt x="0" y="1524177"/>
                  </a:lnTo>
                  <a:close/>
                </a:path>
              </a:pathLst>
            </a:custGeom>
            <a:solidFill>
              <a:srgbClr val="5980A6"/>
            </a:solid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4880084" y="5551254"/>
            <a:ext cx="1423197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100" b="true">
                <a:solidFill>
                  <a:srgbClr val="F2F2F3"/>
                </a:solidFill>
                <a:latin typeface="Arial Bold"/>
                <a:ea typeface="Arial Bold"/>
                <a:cs typeface="Arial Bold"/>
                <a:sym typeface="Arial Bold"/>
              </a:rPr>
              <a:t>Generated text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2164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06 · 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8403" y="2701928"/>
            <a:ext cx="14076683" cy="148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9"/>
              </a:lnSpc>
            </a:pPr>
            <a:r>
              <a:rPr lang="en-US" sz="4500" b="true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We understand how the model generates text. How do we control what it generates?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4694434"/>
            <a:ext cx="1755140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Prompt Engineering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2164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06 · 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What is Prompt Engineering?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2237" y="2449511"/>
            <a:ext cx="14665328" cy="131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Designing instructions, context, and constraints that guide an LLM toward the desired output.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4264171"/>
            <a:ext cx="849884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Simple prompt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8238" y="5119840"/>
            <a:ext cx="7781925" cy="975274"/>
            <a:chOff x="0" y="0"/>
            <a:chExt cx="10375900" cy="1300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5900" cy="1300353"/>
            </a:xfrm>
            <a:custGeom>
              <a:avLst/>
              <a:gdLst/>
              <a:ahLst/>
              <a:cxnLst/>
              <a:rect r="r" b="b" t="t" l="l"/>
              <a:pathLst>
                <a:path h="1300353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1300353"/>
                  </a:lnTo>
                  <a:lnTo>
                    <a:pt x="0" y="13003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476" r="0" b="-10547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82728" y="5330971"/>
            <a:ext cx="7326125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Write about dogs.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98003" y="4264171"/>
            <a:ext cx="8498843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Precise prompt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67838" y="5119840"/>
            <a:ext cx="7781925" cy="1388564"/>
            <a:chOff x="0" y="0"/>
            <a:chExt cx="10375900" cy="1851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5900" cy="1851406"/>
            </a:xfrm>
            <a:custGeom>
              <a:avLst/>
              <a:gdLst/>
              <a:ahLst/>
              <a:cxnLst/>
              <a:rect r="r" b="b" t="t" l="l"/>
              <a:pathLst>
                <a:path h="1851406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1851406"/>
                  </a:lnTo>
                  <a:lnTo>
                    <a:pt x="0" y="1851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200" r="0" b="-59201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712328" y="5330971"/>
            <a:ext cx="7326125" cy="90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Write a 100-word paragraph for a 5th-grade science class explaining why dogs have such a strong sense of smell.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2164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06 · 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Anatomy of a good prompt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38238" y="3424390"/>
            <a:ext cx="5203774" cy="1367733"/>
            <a:chOff x="0" y="0"/>
            <a:chExt cx="6938366" cy="1823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44628" y="3683146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Role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4628" y="4166987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Who the model should act as.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42037" y="3424390"/>
            <a:ext cx="5203774" cy="1367733"/>
            <a:chOff x="0" y="0"/>
            <a:chExt cx="6938366" cy="18236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48427" y="3683146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48427" y="4166987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What it should actually do.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45836" y="3424390"/>
            <a:ext cx="5203774" cy="1367733"/>
            <a:chOff x="0" y="0"/>
            <a:chExt cx="6938366" cy="18236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252227" y="3683146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Context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2227" y="4166987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Background it needs to know.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8238" y="4992138"/>
            <a:ext cx="5203774" cy="1367733"/>
            <a:chOff x="0" y="0"/>
            <a:chExt cx="6938366" cy="18236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44628" y="5250904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Constraints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4628" y="5734745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Limits — length, tone, scope.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42037" y="4992138"/>
            <a:ext cx="5203774" cy="1367733"/>
            <a:chOff x="0" y="0"/>
            <a:chExt cx="6938366" cy="18236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848427" y="5250904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Examples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8427" y="5734745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Sample inputs/outputs to follow.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45836" y="4992138"/>
            <a:ext cx="5203774" cy="1367733"/>
            <a:chOff x="0" y="0"/>
            <a:chExt cx="6938366" cy="18236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38391" cy="1823593"/>
            </a:xfrm>
            <a:custGeom>
              <a:avLst/>
              <a:gdLst/>
              <a:ahLst/>
              <a:cxnLst/>
              <a:rect r="r" b="b" t="t" l="l"/>
              <a:pathLst>
                <a:path h="1823593" w="6938391">
                  <a:moveTo>
                    <a:pt x="0" y="0"/>
                  </a:moveTo>
                  <a:lnTo>
                    <a:pt x="6938391" y="0"/>
                  </a:lnTo>
                  <a:lnTo>
                    <a:pt x="6938391" y="1823593"/>
                  </a:lnTo>
                  <a:lnTo>
                    <a:pt x="0" y="1823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34" r="0" b="-24137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252227" y="5250904"/>
            <a:ext cx="5055184" cy="42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b="true" sz="3000" spc="-44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Output format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52227" y="5734745"/>
            <a:ext cx="5055184" cy="39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Bullets, table, JSON, and so 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8403" y="7237762"/>
            <a:ext cx="14535521" cy="41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Not every prompt needs every component.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2164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06 · 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Zero-shot, few-shot, CoT, ToT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130696"/>
            <a:ext cx="849884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Zero-shot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38238" y="3704330"/>
            <a:ext cx="7781925" cy="1297038"/>
            <a:chOff x="0" y="0"/>
            <a:chExt cx="10375900" cy="17293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75900" cy="1729359"/>
            </a:xfrm>
            <a:custGeom>
              <a:avLst/>
              <a:gdLst/>
              <a:ahLst/>
              <a:cxnLst/>
              <a:rect r="r" b="b" t="t" l="l"/>
              <a:pathLst>
                <a:path h="1729359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1729359"/>
                  </a:lnTo>
                  <a:lnTo>
                    <a:pt x="0" y="17293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06" r="0" b="-66908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87478" y="3867845"/>
            <a:ext cx="7516625" cy="96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Classify this review as positive or negative.</a:t>
            </a:r>
          </a:p>
          <a:p>
            <a:pPr algn="l">
              <a:lnSpc>
                <a:spcPts val="2499"/>
              </a:lnSpc>
            </a:pPr>
          </a:p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"The battery life is disappointing."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8003" y="3130696"/>
            <a:ext cx="849884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Few-shot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67838" y="3704330"/>
            <a:ext cx="7781925" cy="1605563"/>
            <a:chOff x="0" y="0"/>
            <a:chExt cx="10375900" cy="2140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75900" cy="2140712"/>
            </a:xfrm>
            <a:custGeom>
              <a:avLst/>
              <a:gdLst/>
              <a:ahLst/>
              <a:cxnLst/>
              <a:rect r="r" b="b" t="t" l="l"/>
              <a:pathLst>
                <a:path h="2140712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2140712"/>
                  </a:lnTo>
                  <a:lnTo>
                    <a:pt x="0" y="2140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41" r="0" b="-44443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617078" y="3867845"/>
            <a:ext cx="7516625" cy="126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"Fast shipping!" → positive</a:t>
            </a:r>
          </a:p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"Broke after a week." → negative</a:t>
            </a:r>
          </a:p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"Great value for the price." → positive</a:t>
            </a:r>
          </a:p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"The battery life is disappointing." → 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8403" y="5966765"/>
            <a:ext cx="849884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Chain-of-thought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8238" y="6540398"/>
            <a:ext cx="7781925" cy="988514"/>
            <a:chOff x="0" y="0"/>
            <a:chExt cx="10375900" cy="13180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75900" cy="1318006"/>
            </a:xfrm>
            <a:custGeom>
              <a:avLst/>
              <a:gdLst/>
              <a:ahLst/>
              <a:cxnLst/>
              <a:rect r="r" b="b" t="t" l="l"/>
              <a:pathLst>
                <a:path h="1318006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393" r="0" b="-103394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87478" y="6703914"/>
            <a:ext cx="7516625" cy="65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Q: A train travels 60 mph for 2.5 hours. How far does it go?</a:t>
            </a:r>
          </a:p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Let's think step by step: 60 × 2.5 = 150 miles.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8003" y="5966765"/>
            <a:ext cx="8498843" cy="49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Tree-of-thought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67838" y="6540398"/>
            <a:ext cx="7781925" cy="988514"/>
            <a:chOff x="0" y="0"/>
            <a:chExt cx="10375900" cy="13180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75900" cy="1318006"/>
            </a:xfrm>
            <a:custGeom>
              <a:avLst/>
              <a:gdLst/>
              <a:ahLst/>
              <a:cxnLst/>
              <a:rect r="r" b="b" t="t" l="l"/>
              <a:pathLst>
                <a:path h="1318006" w="10375900">
                  <a:moveTo>
                    <a:pt x="0" y="0"/>
                  </a:moveTo>
                  <a:lnTo>
                    <a:pt x="10375900" y="0"/>
                  </a:lnTo>
                  <a:lnTo>
                    <a:pt x="10375900" y="1318006"/>
                  </a:lnTo>
                  <a:lnTo>
                    <a:pt x="0" y="1318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393" r="0" b="-103394"/>
              </a:stretch>
            </a:blipFill>
            <a:ln w="9525" cap="sq">
              <a:solidFill>
                <a:srgbClr val="1F1F1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617078" y="6703914"/>
            <a:ext cx="7516625" cy="65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0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Propose 3 different opening moves for this puzzle, evaluate each branch separately, then pick the strongest line before giving a final answer.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2164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06 · 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Output control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80308" y="3403764"/>
            <a:ext cx="1789773" cy="691101"/>
            <a:chOff x="0" y="0"/>
            <a:chExt cx="2315141" cy="893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5085" cy="893953"/>
            </a:xfrm>
            <a:custGeom>
              <a:avLst/>
              <a:gdLst/>
              <a:ahLst/>
              <a:cxnLst/>
              <a:rect r="r" b="b" t="t" l="l"/>
              <a:pathLst>
                <a:path h="893953" w="2315085">
                  <a:moveTo>
                    <a:pt x="0" y="0"/>
                  </a:moveTo>
                  <a:lnTo>
                    <a:pt x="2315085" y="0"/>
                  </a:lnTo>
                  <a:lnTo>
                    <a:pt x="2315085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79" t="0" r="4791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48014" y="3483121"/>
            <a:ext cx="1725799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Bullet points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707213" y="3400439"/>
            <a:ext cx="1149799" cy="713484"/>
            <a:chOff x="0" y="0"/>
            <a:chExt cx="1440650" cy="8939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0688" cy="893953"/>
            </a:xfrm>
            <a:custGeom>
              <a:avLst/>
              <a:gdLst/>
              <a:ahLst/>
              <a:cxnLst/>
              <a:rect r="r" b="b" t="t" l="l"/>
              <a:pathLst>
                <a:path h="893953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08" t="0" r="-22119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863694" y="3483121"/>
            <a:ext cx="767527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Table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378251" y="3400439"/>
            <a:ext cx="961178" cy="713484"/>
            <a:chOff x="0" y="0"/>
            <a:chExt cx="1204316" cy="8939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4341" cy="893953"/>
            </a:xfrm>
            <a:custGeom>
              <a:avLst/>
              <a:gdLst/>
              <a:ahLst/>
              <a:cxnLst/>
              <a:rect r="r" b="b" t="t" l="l"/>
              <a:pathLst>
                <a:path h="893953" w="1204341">
                  <a:moveTo>
                    <a:pt x="0" y="0"/>
                  </a:moveTo>
                  <a:lnTo>
                    <a:pt x="1204341" y="0"/>
                  </a:lnTo>
                  <a:lnTo>
                    <a:pt x="1204341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39" t="0" r="-45236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430495" y="3496758"/>
            <a:ext cx="745515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JSON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18805" y="3424390"/>
            <a:ext cx="2912575" cy="689534"/>
            <a:chOff x="0" y="0"/>
            <a:chExt cx="3776091" cy="8939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76026" cy="893953"/>
            </a:xfrm>
            <a:custGeom>
              <a:avLst/>
              <a:gdLst/>
              <a:ahLst/>
              <a:cxnLst/>
              <a:rect r="r" b="b" t="t" l="l"/>
              <a:pathLst>
                <a:path h="893953" w="3776026">
                  <a:moveTo>
                    <a:pt x="0" y="0"/>
                  </a:moveTo>
                  <a:lnTo>
                    <a:pt x="3776026" y="0"/>
                  </a:lnTo>
                  <a:lnTo>
                    <a:pt x="3776026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15" r="20883" b="-15117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919662" y="3483121"/>
            <a:ext cx="2666329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Specific item count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84273" y="3443449"/>
            <a:ext cx="2060137" cy="670474"/>
            <a:chOff x="0" y="0"/>
            <a:chExt cx="2746849" cy="8939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6900" cy="893953"/>
            </a:xfrm>
            <a:custGeom>
              <a:avLst/>
              <a:gdLst/>
              <a:ahLst/>
              <a:cxnLst/>
              <a:rect r="r" b="b" t="t" l="l"/>
              <a:pathLst>
                <a:path h="893953" w="2746900">
                  <a:moveTo>
                    <a:pt x="0" y="0"/>
                  </a:moveTo>
                  <a:lnTo>
                    <a:pt x="2746900" y="0"/>
                  </a:lnTo>
                  <a:lnTo>
                    <a:pt x="2746900" y="893953"/>
                  </a:lnTo>
                  <a:lnTo>
                    <a:pt x="0" y="8939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9" t="0" r="18248" b="-1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444881" y="3496758"/>
            <a:ext cx="1815146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Specific tone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604050" y="3433920"/>
            <a:ext cx="1540887" cy="670474"/>
            <a:chOff x="0" y="0"/>
            <a:chExt cx="2117720" cy="9214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7706" cy="921454"/>
            </a:xfrm>
            <a:custGeom>
              <a:avLst/>
              <a:gdLst/>
              <a:ahLst/>
              <a:cxnLst/>
              <a:rect r="r" b="b" t="t" l="l"/>
              <a:pathLst>
                <a:path h="921454" w="2117706">
                  <a:moveTo>
                    <a:pt x="0" y="0"/>
                  </a:moveTo>
                  <a:lnTo>
                    <a:pt x="2117706" y="0"/>
                  </a:lnTo>
                  <a:lnTo>
                    <a:pt x="2117706" y="921454"/>
                  </a:lnTo>
                  <a:lnTo>
                    <a:pt x="0" y="9214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73" t="0" r="2949" b="2983"/>
              </a:stretch>
            </a:blipFill>
            <a:ln w="9525" cap="sq">
              <a:solidFill>
                <a:srgbClr val="5980A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672017" y="3504626"/>
            <a:ext cx="1404952" cy="40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00" b="true">
                <a:solidFill>
                  <a:srgbClr val="416180"/>
                </a:solidFill>
                <a:latin typeface="Arial Bold"/>
                <a:ea typeface="Arial Bold"/>
                <a:cs typeface="Arial Bold"/>
                <a:sym typeface="Arial Bold"/>
              </a:rPr>
              <a:t>Word limit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4972745"/>
            <a:ext cx="13607301" cy="7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1D1F21">
                    <a:alpha val="5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Real applications need predictable output — formatting requests make model output usable by code and UI, not just readable.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5733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07 · PRACTICAL EXERCISES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Exercise 1 — Prompt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2840341"/>
            <a:ext cx="14036678" cy="131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Create a prompt that asks an LLM to build a 4-week Python study plan for a beginner.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2237" y="4961302"/>
            <a:ext cx="14539598" cy="151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1 — write a basic prompt.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2 — improve it using role, context, constraints, and output format.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5733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07 · PRACTICAL EXERCISES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Exercise 2 — Few-Shot Prompting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2827950"/>
            <a:ext cx="14036678" cy="131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Write a few-shot prompt that teaches an LLM to classify support tickets by urgency — low, medium, or high.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2237" y="4763579"/>
            <a:ext cx="14539598" cy="151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1 — pick three example tickets and label each with its urgency.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2 — write the few-shot prompt and test it on a new, unlabeled ticket.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3" y="693934"/>
            <a:ext cx="2757335" cy="2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b="true" sz="1800" spc="144">
                <a:solidFill>
                  <a:srgbClr val="5980A6"/>
                </a:solidFill>
                <a:latin typeface="Arial Bold"/>
                <a:ea typeface="Arial Bold"/>
                <a:cs typeface="Arial Bold"/>
                <a:sym typeface="Arial Bold"/>
              </a:rPr>
              <a:t>07 · PRACTICAL EXERCISES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2237" y="1709537"/>
            <a:ext cx="17591180" cy="5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7"/>
              </a:lnSpc>
            </a:pPr>
            <a:r>
              <a:rPr lang="en-US" b="true" sz="5700" spc="-85">
                <a:solidFill>
                  <a:srgbClr val="1D1F20"/>
                </a:solidFill>
                <a:latin typeface="Arial Bold"/>
                <a:ea typeface="Arial Bold"/>
                <a:cs typeface="Arial Bold"/>
                <a:sym typeface="Arial Bold"/>
              </a:rPr>
              <a:t>Exercise 3 — Chain-of-Thought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8403" y="3032274"/>
            <a:ext cx="14036678" cy="131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>
                <a:solidFill>
                  <a:srgbClr val="416180"/>
                </a:solidFill>
                <a:latin typeface="Arial"/>
                <a:ea typeface="Arial"/>
                <a:cs typeface="Arial"/>
                <a:sym typeface="Arial"/>
              </a:rPr>
              <a:t>Write a chain-of-thought prompt that asks an LLM to solve a multi-step word problem and show its reasoning.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403" y="4726506"/>
            <a:ext cx="14539598" cy="151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1 — write a direct prompt that just asks for the final answer.</a:t>
            </a:r>
          </a:p>
          <a:p>
            <a:pPr algn="l">
              <a:lnSpc>
                <a:spcPts val="3468"/>
              </a:lnSpc>
            </a:pPr>
            <a:r>
              <a:rPr lang="en-US" sz="2550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Step 2 — rewrite it asking the model to reason step by step, then compare the two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DAHS1RHLFFE</dc:identifier>
  <dcterms:modified xsi:type="dcterms:W3CDTF">2011-08-01T06:04:30Z</dcterms:modified>
  <cp:revision>1</cp:revision>
  <dc:title>LLM_architecture_presentation_deck.pptx</dc:title>
</cp:coreProperties>
</file>