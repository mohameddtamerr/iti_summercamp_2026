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7"/>
    </p:embeddedFont>
    <p:embeddedFont>
      <p:font typeface="Cambria Bold" charset="1" panose="02040803050406030204"/>
      <p:regular r:id="rId28"/>
    </p:embeddedFont>
    <p:embeddedFont>
      <p:font typeface="Calibri (MS) Italics" charset="1" panose="020F05020202040A0204"/>
      <p:regular r:id="rId29"/>
    </p:embeddedFont>
    <p:embeddedFont>
      <p:font typeface="Calibri (MS)" charset="1" panose="020F0502020204030204"/>
      <p:regular r:id="rId31"/>
    </p:embeddedFont>
    <p:embeddedFont>
      <p:font typeface="Courier New" charset="1" panose="02070309020205020404"/>
      <p:regular r:id="rId36"/>
    </p:embeddedFont>
    <p:embeddedFont>
      <p:font typeface="Calibri (MS) Bold Italics" charset="1" panose="020F07020304040A0204"/>
      <p:regular r:id="rId39"/>
    </p:embeddedFont>
    <p:embeddedFont>
      <p:font typeface="Courier New Bold" charset="1" panose="020706090202050204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92024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3E5C76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6309360"/>
            <a:ext cx="4389120" cy="4389120"/>
            <a:chOff x="0" y="0"/>
            <a:chExt cx="5852160" cy="5852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00D9C0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3497580"/>
            <a:ext cx="15773400" cy="548640"/>
            <a:chOff x="0" y="0"/>
            <a:chExt cx="21031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AUTOMATION &amp; AGENTIC AI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1540" y="3977640"/>
            <a:ext cx="15087600" cy="2743200"/>
            <a:chOff x="0" y="0"/>
            <a:chExt cx="20116800" cy="365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20116800" cy="3609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Scripted Workflows to</a:t>
              </a:r>
            </a:p>
            <a:p>
              <a:pPr algn="l">
                <a:lnSpc>
                  <a:spcPts val="720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Autonomous Agents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6515100"/>
            <a:ext cx="12344400" cy="685800"/>
            <a:chOff x="0" y="0"/>
            <a:chExt cx="164592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459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FE8E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Concepts, architectures, and a live build session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42840">
            <a:off x="940956" y="7534275"/>
            <a:ext cx="3055858" cy="0"/>
          </a:xfrm>
          <a:prstGeom prst="line">
            <a:avLst/>
          </a:prstGeom>
          <a:ln cap="rnd" w="19050">
            <a:solidFill>
              <a:srgbClr val="00D9C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We'll Cover Today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2648334"/>
            <a:ext cx="1119894" cy="1119894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2648334"/>
            <a:ext cx="1119894" cy="1119894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41662" y="2513947"/>
            <a:ext cx="7167319" cy="716732"/>
            <a:chOff x="0" y="0"/>
            <a:chExt cx="585216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8521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41662" y="2928505"/>
            <a:ext cx="10303022" cy="806323"/>
            <a:chOff x="0" y="0"/>
            <a:chExt cx="8412480" cy="658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0" cy="658368"/>
            </a:xfrm>
            <a:custGeom>
              <a:avLst/>
              <a:gdLst/>
              <a:ahLst/>
              <a:cxnLst/>
              <a:rect r="r" b="b" t="t" l="l"/>
              <a:pathLst>
                <a:path h="65836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412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vs. agentic AI — what actually changed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4171390"/>
            <a:ext cx="1119894" cy="1119894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5800" y="4171390"/>
            <a:ext cx="1119894" cy="1119894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41662" y="4037003"/>
            <a:ext cx="7167319" cy="716732"/>
            <a:chOff x="0" y="0"/>
            <a:chExt cx="585216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8521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Concepts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41662" y="4468260"/>
            <a:ext cx="10303022" cy="806323"/>
            <a:chOff x="0" y="0"/>
            <a:chExt cx="8412480" cy="6583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0" cy="658368"/>
            </a:xfrm>
            <a:custGeom>
              <a:avLst/>
              <a:gdLst/>
              <a:ahLst/>
              <a:cxnLst/>
              <a:rect r="r" b="b" t="t" l="l"/>
              <a:pathLst>
                <a:path h="65836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412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agent loop, tools, memory, planning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5800" y="5694445"/>
            <a:ext cx="1119894" cy="1119894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" y="5694445"/>
            <a:ext cx="1119894" cy="1119894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41662" y="5560058"/>
            <a:ext cx="7167319" cy="716732"/>
            <a:chOff x="0" y="0"/>
            <a:chExt cx="585216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8521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141662" y="6008015"/>
            <a:ext cx="10303022" cy="806323"/>
            <a:chOff x="0" y="0"/>
            <a:chExt cx="841248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12480" cy="658368"/>
            </a:xfrm>
            <a:custGeom>
              <a:avLst/>
              <a:gdLst/>
              <a:ahLst/>
              <a:cxnLst/>
              <a:rect r="r" b="b" t="t" l="l"/>
              <a:pathLst>
                <a:path h="65836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8412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CrewAI, AutoGen, LangChain (chains + tools) &amp; when to use agents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7217501"/>
            <a:ext cx="1119894" cy="1119894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85800" y="7217501"/>
            <a:ext cx="1119894" cy="1119894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41662" y="7083113"/>
            <a:ext cx="7167319" cy="716732"/>
            <a:chOff x="0" y="0"/>
            <a:chExt cx="585216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58521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Patterns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41662" y="7623964"/>
            <a:ext cx="10303022" cy="806323"/>
            <a:chOff x="0" y="0"/>
            <a:chExt cx="8412480" cy="6583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412480" cy="658368"/>
            </a:xfrm>
            <a:custGeom>
              <a:avLst/>
              <a:gdLst/>
              <a:ahLst/>
              <a:cxnLst/>
              <a:rect r="r" b="b" t="t" l="l"/>
              <a:pathLst>
                <a:path h="65836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8412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Guardrails, failure modes, human-in-the-loop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FRAMING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Rules to Reasoning: The Automation Timeline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3282315"/>
            <a:ext cx="3585210" cy="3173730"/>
            <a:chOff x="0" y="0"/>
            <a:chExt cx="4780280" cy="4231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80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47802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633087" y="0"/>
                  </a:lnTo>
                  <a:cubicBezTo>
                    <a:pt x="4714367" y="0"/>
                    <a:pt x="4780280" y="65913"/>
                    <a:pt x="4780280" y="147193"/>
                  </a:cubicBezTo>
                  <a:lnTo>
                    <a:pt x="4780280" y="4084447"/>
                  </a:lnTo>
                  <a:cubicBezTo>
                    <a:pt x="4780280" y="4165727"/>
                    <a:pt x="4714367" y="4231640"/>
                    <a:pt x="46330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566160"/>
            <a:ext cx="3154680" cy="960120"/>
            <a:chOff x="0" y="0"/>
            <a:chExt cx="420624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Rule-Based</a:t>
              </a:r>
            </a:p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Automation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663440"/>
            <a:ext cx="3154680" cy="891540"/>
            <a:chOff x="0" y="0"/>
            <a:chExt cx="420624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0624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if/then scripts,</a:t>
              </a:r>
            </a:p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RPA bots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20640">
            <a:off x="1156306" y="5591366"/>
            <a:ext cx="3173787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65860" y="5733288"/>
            <a:ext cx="3154680" cy="617220"/>
            <a:chOff x="0" y="0"/>
            <a:chExt cx="420624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 logic,</a:t>
              </a:r>
            </a:p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 reasoning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94860" y="4594860"/>
            <a:ext cx="480060" cy="548640"/>
            <a:chOff x="0" y="0"/>
            <a:chExt cx="64008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182880"/>
                  </a:moveTo>
                  <a:lnTo>
                    <a:pt x="320040" y="182880"/>
                  </a:lnTo>
                  <a:lnTo>
                    <a:pt x="320040" y="0"/>
                  </a:lnTo>
                  <a:lnTo>
                    <a:pt x="640080" y="365760"/>
                  </a:lnTo>
                  <a:lnTo>
                    <a:pt x="320040" y="731520"/>
                  </a:lnTo>
                  <a:lnTo>
                    <a:pt x="3200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065395" y="3282315"/>
            <a:ext cx="3585210" cy="3173730"/>
            <a:chOff x="0" y="0"/>
            <a:chExt cx="4780280" cy="4231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80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47802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633087" y="0"/>
                  </a:lnTo>
                  <a:cubicBezTo>
                    <a:pt x="4714367" y="0"/>
                    <a:pt x="4780280" y="65913"/>
                    <a:pt x="4780280" y="147193"/>
                  </a:cubicBezTo>
                  <a:lnTo>
                    <a:pt x="4780280" y="4084447"/>
                  </a:lnTo>
                  <a:cubicBezTo>
                    <a:pt x="4780280" y="4165727"/>
                    <a:pt x="4714367" y="4231640"/>
                    <a:pt x="46330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280660" y="3566160"/>
            <a:ext cx="3154680" cy="960120"/>
            <a:chOff x="0" y="0"/>
            <a:chExt cx="420624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ML-Assisted</a:t>
              </a:r>
            </a:p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Workflows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80660" y="4663440"/>
            <a:ext cx="3154680" cy="891540"/>
            <a:chOff x="0" y="0"/>
            <a:chExt cx="420624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20624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predictions feed</a:t>
              </a:r>
            </a:p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rule engines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20640">
            <a:off x="5271106" y="5591366"/>
            <a:ext cx="3173787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5280660" y="5733288"/>
            <a:ext cx="3154680" cy="617220"/>
            <a:chOff x="0" y="0"/>
            <a:chExt cx="420624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Smarter triggers,</a:t>
              </a:r>
            </a:p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still scripted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09660" y="4594860"/>
            <a:ext cx="480060" cy="548640"/>
            <a:chOff x="0" y="0"/>
            <a:chExt cx="6400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182880"/>
                  </a:moveTo>
                  <a:lnTo>
                    <a:pt x="320040" y="182880"/>
                  </a:lnTo>
                  <a:lnTo>
                    <a:pt x="320040" y="0"/>
                  </a:lnTo>
                  <a:lnTo>
                    <a:pt x="640080" y="365760"/>
                  </a:lnTo>
                  <a:lnTo>
                    <a:pt x="320040" y="731520"/>
                  </a:lnTo>
                  <a:lnTo>
                    <a:pt x="3200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80195" y="3282315"/>
            <a:ext cx="3585210" cy="3173730"/>
            <a:chOff x="0" y="0"/>
            <a:chExt cx="4780280" cy="4231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80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47802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633087" y="0"/>
                  </a:lnTo>
                  <a:cubicBezTo>
                    <a:pt x="4714367" y="0"/>
                    <a:pt x="4780280" y="65913"/>
                    <a:pt x="4780280" y="147193"/>
                  </a:cubicBezTo>
                  <a:lnTo>
                    <a:pt x="4780280" y="4084447"/>
                  </a:lnTo>
                  <a:cubicBezTo>
                    <a:pt x="4780280" y="4165727"/>
                    <a:pt x="4714367" y="4231640"/>
                    <a:pt x="46330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395460" y="3566160"/>
            <a:ext cx="3154680" cy="960120"/>
            <a:chOff x="0" y="0"/>
            <a:chExt cx="420624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LLM</a:t>
              </a:r>
            </a:p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Workflows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95460" y="4663440"/>
            <a:ext cx="3154680" cy="891540"/>
            <a:chOff x="0" y="0"/>
            <a:chExt cx="420624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20624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prompted steps,</a:t>
              </a:r>
            </a:p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fixed pipeline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20640">
            <a:off x="9385906" y="5591366"/>
            <a:ext cx="3173787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9395460" y="5733288"/>
            <a:ext cx="3154680" cy="617220"/>
            <a:chOff x="0" y="0"/>
            <a:chExt cx="4206240" cy="822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 in/out,</a:t>
              </a:r>
            </a:p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autonomy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824460" y="4594860"/>
            <a:ext cx="480060" cy="548640"/>
            <a:chOff x="0" y="0"/>
            <a:chExt cx="6400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182880"/>
                  </a:moveTo>
                  <a:lnTo>
                    <a:pt x="320040" y="182880"/>
                  </a:lnTo>
                  <a:lnTo>
                    <a:pt x="320040" y="0"/>
                  </a:lnTo>
                  <a:lnTo>
                    <a:pt x="640080" y="365760"/>
                  </a:lnTo>
                  <a:lnTo>
                    <a:pt x="320040" y="731520"/>
                  </a:lnTo>
                  <a:lnTo>
                    <a:pt x="3200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294995" y="3282315"/>
            <a:ext cx="3585210" cy="3173730"/>
            <a:chOff x="0" y="0"/>
            <a:chExt cx="4780280" cy="4231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80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47802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633087" y="0"/>
                  </a:lnTo>
                  <a:cubicBezTo>
                    <a:pt x="4714367" y="0"/>
                    <a:pt x="4780280" y="65913"/>
                    <a:pt x="4780280" y="147193"/>
                  </a:cubicBezTo>
                  <a:lnTo>
                    <a:pt x="4780280" y="4084447"/>
                  </a:lnTo>
                  <a:cubicBezTo>
                    <a:pt x="4780280" y="4165727"/>
                    <a:pt x="4714367" y="4231640"/>
                    <a:pt x="46330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161B33"/>
            </a:solidFill>
            <a:ln w="19050" cap="sq">
              <a:solidFill>
                <a:srgbClr val="161B3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510260" y="3566160"/>
            <a:ext cx="3154680" cy="960120"/>
            <a:chOff x="0" y="0"/>
            <a:chExt cx="4206240" cy="12801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Agentic</a:t>
              </a:r>
            </a:p>
            <a:p>
              <a:pPr algn="l">
                <a:lnSpc>
                  <a:spcPts val="25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510260" y="4663440"/>
            <a:ext cx="3154680" cy="891540"/>
            <a:chOff x="0" y="0"/>
            <a:chExt cx="4206240" cy="11887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20624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CFE8E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plans, uses tools,</a:t>
              </a:r>
            </a:p>
            <a:p>
              <a:pPr algn="l">
                <a:lnSpc>
                  <a:spcPts val="1950"/>
                </a:lnSpc>
              </a:pPr>
              <a:r>
                <a:rPr lang="en-US" sz="1575" i="true">
                  <a:solidFill>
                    <a:srgbClr val="CFE8E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adapts, remembers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20640">
            <a:off x="13500706" y="5591366"/>
            <a:ext cx="3173787" cy="0"/>
          </a:xfrm>
          <a:prstGeom prst="line">
            <a:avLst/>
          </a:prstGeom>
          <a:ln cap="rnd" w="9525">
            <a:solidFill>
              <a:srgbClr val="00D9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3510260" y="5733288"/>
            <a:ext cx="3154680" cy="617220"/>
            <a:chOff x="0" y="0"/>
            <a:chExt cx="4206240" cy="822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Autonomous,</a:t>
              </a:r>
            </a:p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goal-driven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" y="6995160"/>
            <a:ext cx="15910560" cy="822960"/>
            <a:chOff x="0" y="0"/>
            <a:chExt cx="2121408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12140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stage keeps the last one's capabilities and adds a new one: reasoning, memory, tool use, and autonomy layer on top of automation — they don't replace it.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FRAMING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Automation vs. Agentic AI: What Actually Changed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7700010" cy="6739890"/>
            <a:chOff x="0" y="0"/>
            <a:chExt cx="1026668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26668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0156698" y="0"/>
                  </a:lnTo>
                  <a:cubicBezTo>
                    <a:pt x="10217404" y="0"/>
                    <a:pt x="10266680" y="49276"/>
                    <a:pt x="10266680" y="109982"/>
                  </a:cubicBezTo>
                  <a:lnTo>
                    <a:pt x="10266680" y="8876538"/>
                  </a:lnTo>
                  <a:cubicBezTo>
                    <a:pt x="10266680" y="8937244"/>
                    <a:pt x="10217404" y="8986520"/>
                    <a:pt x="10156698" y="8986520"/>
                  </a:cubicBezTo>
                  <a:lnTo>
                    <a:pt x="109982" y="8986520"/>
                  </a:lnTo>
                  <a:cubicBezTo>
                    <a:pt x="49276" y="8986520"/>
                    <a:pt x="0" y="8937244"/>
                    <a:pt x="0" y="887653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80360"/>
            <a:ext cx="6858000" cy="480060"/>
            <a:chOff x="0" y="0"/>
            <a:chExt cx="91440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AUTOMATION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771900"/>
            <a:ext cx="137160" cy="137160"/>
            <a:chOff x="0" y="0"/>
            <a:chExt cx="182880" cy="182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43050" y="3380994"/>
            <a:ext cx="6515100" cy="891540"/>
            <a:chOff x="0" y="0"/>
            <a:chExt cx="8686800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Follows a predefined path — every branch is explicitly coded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841748"/>
            <a:ext cx="137160" cy="137160"/>
            <a:chOff x="0" y="0"/>
            <a:chExt cx="182880" cy="18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43050" y="4450842"/>
            <a:ext cx="6515100" cy="891540"/>
            <a:chOff x="0" y="0"/>
            <a:chExt cx="868680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understanding of context or intent, only pattern-matching triggers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5911596"/>
            <a:ext cx="137160" cy="137160"/>
            <a:chOff x="0" y="0"/>
            <a:chExt cx="182880" cy="182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43050" y="5520690"/>
            <a:ext cx="6515100" cy="891540"/>
            <a:chOff x="0" y="0"/>
            <a:chExt cx="8686800" cy="1188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Breaks when inputs fall outside anticipated cases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6981444"/>
            <a:ext cx="137160" cy="137160"/>
            <a:chOff x="0" y="0"/>
            <a:chExt cx="182880" cy="182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43050" y="6590538"/>
            <a:ext cx="6515100" cy="891540"/>
            <a:chOff x="0" y="0"/>
            <a:chExt cx="8686800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Deterministic, fast, cheap, and fully auditable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" y="8051292"/>
            <a:ext cx="137160" cy="137160"/>
            <a:chOff x="0" y="0"/>
            <a:chExt cx="182880" cy="182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43050" y="7660386"/>
            <a:ext cx="6515100" cy="891540"/>
            <a:chOff x="0" y="0"/>
            <a:chExt cx="8686800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for: high-volume, well-defined, repetitive tasks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64040" y="2537460"/>
            <a:ext cx="7680960" cy="6720840"/>
            <a:chOff x="0" y="0"/>
            <a:chExt cx="10241280" cy="896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241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8851392"/>
                  </a:lnTo>
                  <a:cubicBezTo>
                    <a:pt x="10241280" y="8911972"/>
                    <a:pt x="10192131" y="8961120"/>
                    <a:pt x="10131552" y="8961120"/>
                  </a:cubicBezTo>
                  <a:lnTo>
                    <a:pt x="109728" y="8961120"/>
                  </a:lnTo>
                  <a:cubicBezTo>
                    <a:pt x="49149" y="8961120"/>
                    <a:pt x="0" y="8911972"/>
                    <a:pt x="0" y="8851392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75520" y="2880360"/>
            <a:ext cx="6858000" cy="480060"/>
            <a:chOff x="0" y="0"/>
            <a:chExt cx="914400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AGENTIC AI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75520" y="3771900"/>
            <a:ext cx="137160" cy="137160"/>
            <a:chOff x="0" y="0"/>
            <a:chExt cx="182880" cy="182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218420" y="3394710"/>
            <a:ext cx="6515100" cy="891540"/>
            <a:chOff x="0" y="0"/>
            <a:chExt cx="8686800" cy="1188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Sets its own path — plans steps toward a goal dynamically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75520" y="4841748"/>
            <a:ext cx="137160" cy="137160"/>
            <a:chOff x="0" y="0"/>
            <a:chExt cx="182880" cy="182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218420" y="4464558"/>
            <a:ext cx="6515100" cy="891540"/>
            <a:chOff x="0" y="0"/>
            <a:chExt cx="8686800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Reasons over context, chooses which tools to call and when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75520" y="5911596"/>
            <a:ext cx="137160" cy="137160"/>
            <a:chOff x="0" y="0"/>
            <a:chExt cx="182880" cy="182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218420" y="5534406"/>
            <a:ext cx="6515100" cy="891540"/>
            <a:chOff x="0" y="0"/>
            <a:chExt cx="8686800" cy="11887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Adapts when a step fails: retries, replans, or asks for help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75520" y="6981444"/>
            <a:ext cx="137160" cy="137160"/>
            <a:chOff x="0" y="0"/>
            <a:chExt cx="182880" cy="1828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218420" y="6604254"/>
            <a:ext cx="6515100" cy="891540"/>
            <a:chOff x="0" y="0"/>
            <a:chExt cx="868680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Probabilistic, flexible, and requires guardrails + monitoring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75520" y="8051292"/>
            <a:ext cx="137160" cy="137160"/>
            <a:chOff x="0" y="0"/>
            <a:chExt cx="182880" cy="182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18420" y="7674102"/>
            <a:ext cx="6515100" cy="891540"/>
            <a:chOff x="0" y="0"/>
            <a:chExt cx="8686800" cy="1188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686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6868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for: open-ended, variable, judgment-requiring tasks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CORE CONCEPTS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Agent Loop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20240"/>
            <a:ext cx="12344400" cy="548640"/>
            <a:chOff x="0" y="0"/>
            <a:chExt cx="16459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agentic system, however complex, runs this cycle.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46670" y="2640330"/>
            <a:ext cx="2948940" cy="1851660"/>
            <a:chOff x="0" y="0"/>
            <a:chExt cx="3931920" cy="2468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319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931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322576"/>
                  </a:lnTo>
                  <a:cubicBezTo>
                    <a:pt x="3931920" y="2403348"/>
                    <a:pt x="3866388" y="2468880"/>
                    <a:pt x="37856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646670" y="2846070"/>
            <a:ext cx="2948940" cy="411480"/>
            <a:chOff x="0" y="0"/>
            <a:chExt cx="393192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931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PERCEIVE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83830" y="3298698"/>
            <a:ext cx="2674620" cy="1097280"/>
            <a:chOff x="0" y="0"/>
            <a:chExt cx="35661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661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5661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the goal,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context, and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latest observation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46970" y="5040630"/>
            <a:ext cx="2948940" cy="1851660"/>
            <a:chOff x="0" y="0"/>
            <a:chExt cx="3931920" cy="2468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319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931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322576"/>
                  </a:lnTo>
                  <a:cubicBezTo>
                    <a:pt x="3931920" y="2403348"/>
                    <a:pt x="3866388" y="2468880"/>
                    <a:pt x="37856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46970" y="5246370"/>
            <a:ext cx="2948940" cy="411480"/>
            <a:chOff x="0" y="0"/>
            <a:chExt cx="393192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931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84130" y="5698998"/>
            <a:ext cx="2674620" cy="1097280"/>
            <a:chOff x="0" y="0"/>
            <a:chExt cx="356616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661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5661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Decide the next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 toward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goal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46670" y="7440930"/>
            <a:ext cx="2948940" cy="1851660"/>
            <a:chOff x="0" y="0"/>
            <a:chExt cx="3931920" cy="2468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19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931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322576"/>
                  </a:lnTo>
                  <a:cubicBezTo>
                    <a:pt x="3931920" y="2403348"/>
                    <a:pt x="3866388" y="2468880"/>
                    <a:pt x="37856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646670" y="7646670"/>
            <a:ext cx="2948940" cy="411480"/>
            <a:chOff x="0" y="0"/>
            <a:chExt cx="393192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931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783830" y="8099298"/>
            <a:ext cx="2674620" cy="1097280"/>
            <a:chOff x="0" y="0"/>
            <a:chExt cx="356616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661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5661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 a tool,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API, or take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46370" y="5040630"/>
            <a:ext cx="2948940" cy="1851660"/>
            <a:chOff x="0" y="0"/>
            <a:chExt cx="3931920" cy="2468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319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931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322576"/>
                  </a:lnTo>
                  <a:cubicBezTo>
                    <a:pt x="3931920" y="2403348"/>
                    <a:pt x="3866388" y="2468880"/>
                    <a:pt x="37856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246370" y="5246370"/>
            <a:ext cx="2948940" cy="411480"/>
            <a:chOff x="0" y="0"/>
            <a:chExt cx="393192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931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383530" y="5698998"/>
            <a:ext cx="2674620" cy="1097280"/>
            <a:chOff x="0" y="0"/>
            <a:chExt cx="356616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661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5661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 the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 / new</a:t>
              </a:r>
            </a:p>
            <a:p>
              <a:pPr algn="ctr">
                <a:lnSpc>
                  <a:spcPts val="164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environment state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564178" y="4111942"/>
            <a:ext cx="411480" cy="411480"/>
            <a:chOff x="0" y="0"/>
            <a:chExt cx="5486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564178" y="7409497"/>
            <a:ext cx="411480" cy="411480"/>
            <a:chOff x="0" y="0"/>
            <a:chExt cx="54864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266622" y="7409497"/>
            <a:ext cx="411480" cy="411480"/>
            <a:chOff x="0" y="0"/>
            <a:chExt cx="54864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266622" y="4111942"/>
            <a:ext cx="411480" cy="411480"/>
            <a:chOff x="0" y="0"/>
            <a:chExt cx="54864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940993" y="4786312"/>
            <a:ext cx="2360295" cy="2360295"/>
            <a:chOff x="0" y="0"/>
            <a:chExt cx="3147060" cy="31470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47060" cy="3147060"/>
            </a:xfrm>
            <a:custGeom>
              <a:avLst/>
              <a:gdLst/>
              <a:ahLst/>
              <a:cxnLst/>
              <a:rect r="r" b="b" t="t" l="l"/>
              <a:pathLst>
                <a:path h="3147060" w="3147060">
                  <a:moveTo>
                    <a:pt x="0" y="1573530"/>
                  </a:moveTo>
                  <a:cubicBezTo>
                    <a:pt x="0" y="704469"/>
                    <a:pt x="704469" y="0"/>
                    <a:pt x="1573530" y="0"/>
                  </a:cubicBezTo>
                  <a:cubicBezTo>
                    <a:pt x="2442591" y="0"/>
                    <a:pt x="3147060" y="704469"/>
                    <a:pt x="3147060" y="1573530"/>
                  </a:cubicBezTo>
                  <a:cubicBezTo>
                    <a:pt x="3147060" y="2442591"/>
                    <a:pt x="2442591" y="3147060"/>
                    <a:pt x="1573530" y="3147060"/>
                  </a:cubicBezTo>
                  <a:cubicBezTo>
                    <a:pt x="704469" y="3147060"/>
                    <a:pt x="0" y="2442591"/>
                    <a:pt x="0" y="1573530"/>
                  </a:cubicBezTo>
                  <a:close/>
                </a:path>
              </a:pathLst>
            </a:custGeom>
            <a:solidFill>
              <a:srgbClr val="F5F7F8"/>
            </a:solidFill>
            <a:ln w="28575" cap="sq">
              <a:solidFill>
                <a:srgbClr val="00D9C0"/>
              </a:solidFill>
              <a:prstDash val="dash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7955280" y="5486400"/>
            <a:ext cx="2331720" cy="960120"/>
            <a:chOff x="0" y="0"/>
            <a:chExt cx="310896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08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1089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LOOP UNTIL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 MET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2880360"/>
            <a:ext cx="6309360" cy="480060"/>
            <a:chOff x="0" y="0"/>
            <a:chExt cx="841248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3429000"/>
            <a:ext cx="6446520" cy="2194560"/>
            <a:chOff x="0" y="0"/>
            <a:chExt cx="8595360" cy="2926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95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37" r="0" b="-72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859536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is the same reasoning loop behind ReAct-style prompting — the difference between a chatbot and an agent is whether ACT can call real tools and OBSERVE feeds real results back in.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CORE CONCEPTS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Tool Use: Giving the Model Hands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5910560" cy="685800"/>
            <a:chOff x="0" y="0"/>
            <a:chExt cx="2121408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14080" cy="914400"/>
            </a:xfrm>
            <a:custGeom>
              <a:avLst/>
              <a:gdLst/>
              <a:ahLst/>
              <a:cxnLst/>
              <a:rect r="r" b="b" t="t" l="l"/>
              <a:pathLst>
                <a:path h="9144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2140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LLM alone only predicts text. Function/tool calling lets it request an action, then read back a real result.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3556635"/>
            <a:ext cx="3722370" cy="2145030"/>
            <a:chOff x="0" y="0"/>
            <a:chExt cx="4963160" cy="2860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63160" cy="2860040"/>
            </a:xfrm>
            <a:custGeom>
              <a:avLst/>
              <a:gdLst/>
              <a:ahLst/>
              <a:cxnLst/>
              <a:rect r="r" b="b" t="t" l="l"/>
              <a:pathLst>
                <a:path h="2860040" w="49631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815586" y="0"/>
                  </a:lnTo>
                  <a:cubicBezTo>
                    <a:pt x="4897120" y="0"/>
                    <a:pt x="4963160" y="66040"/>
                    <a:pt x="4963160" y="147574"/>
                  </a:cubicBezTo>
                  <a:lnTo>
                    <a:pt x="4963160" y="2712466"/>
                  </a:lnTo>
                  <a:cubicBezTo>
                    <a:pt x="4963160" y="2794000"/>
                    <a:pt x="4897120" y="2860040"/>
                    <a:pt x="481558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3771900"/>
            <a:ext cx="3291840" cy="411480"/>
            <a:chOff x="0" y="0"/>
            <a:chExt cx="438912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389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860" y="4251960"/>
            <a:ext cx="3291840" cy="1303020"/>
            <a:chOff x="0" y="0"/>
            <a:chExt cx="4389120" cy="1737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3891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decides it needs</a:t>
              </a:r>
            </a:p>
            <a:p>
              <a:pPr algn="l">
                <a:lnSpc>
                  <a:spcPts val="1800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data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90872" y="4416552"/>
            <a:ext cx="384048" cy="411480"/>
            <a:chOff x="0" y="0"/>
            <a:chExt cx="512064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">
                  <a:moveTo>
                    <a:pt x="0" y="137160"/>
                  </a:moveTo>
                  <a:lnTo>
                    <a:pt x="256032" y="137160"/>
                  </a:lnTo>
                  <a:lnTo>
                    <a:pt x="256032" y="0"/>
                  </a:lnTo>
                  <a:lnTo>
                    <a:pt x="512064" y="274320"/>
                  </a:lnTo>
                  <a:lnTo>
                    <a:pt x="256032" y="548640"/>
                  </a:lnTo>
                  <a:lnTo>
                    <a:pt x="256032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92827" y="3556635"/>
            <a:ext cx="3722370" cy="2145030"/>
            <a:chOff x="0" y="0"/>
            <a:chExt cx="4963160" cy="2860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63160" cy="2860040"/>
            </a:xfrm>
            <a:custGeom>
              <a:avLst/>
              <a:gdLst/>
              <a:ahLst/>
              <a:cxnLst/>
              <a:rect r="r" b="b" t="t" l="l"/>
              <a:pathLst>
                <a:path h="2860040" w="49631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815586" y="0"/>
                  </a:lnTo>
                  <a:cubicBezTo>
                    <a:pt x="4897120" y="0"/>
                    <a:pt x="4963160" y="66040"/>
                    <a:pt x="4963160" y="147574"/>
                  </a:cubicBezTo>
                  <a:lnTo>
                    <a:pt x="4963160" y="2712466"/>
                  </a:lnTo>
                  <a:cubicBezTo>
                    <a:pt x="4963160" y="2794000"/>
                    <a:pt x="4897120" y="2860040"/>
                    <a:pt x="481558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161B33"/>
            </a:solidFill>
            <a:ln w="19050" cap="sq">
              <a:solidFill>
                <a:srgbClr val="161B3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308092" y="3771900"/>
            <a:ext cx="3291840" cy="411480"/>
            <a:chOff x="0" y="0"/>
            <a:chExt cx="438912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389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 Call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08092" y="4251960"/>
            <a:ext cx="3291840" cy="1303020"/>
            <a:chOff x="0" y="0"/>
            <a:chExt cx="4389120" cy="1737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3891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9"/>
                </a:lnSpc>
              </a:pPr>
              <a:r>
                <a:rPr lang="en-US" sz="13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emits structured</a:t>
              </a:r>
            </a:p>
            <a:p>
              <a:pPr algn="l">
                <a:lnSpc>
                  <a:spcPts val="1799"/>
                </a:lnSpc>
              </a:pPr>
              <a:r>
                <a:rPr lang="en-US" sz="13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JSON: {"tool":"search",</a:t>
              </a:r>
            </a:p>
            <a:p>
              <a:pPr algn="l">
                <a:lnSpc>
                  <a:spcPts val="1799"/>
                </a:lnSpc>
              </a:pPr>
              <a:r>
                <a:rPr lang="en-US" sz="13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"query":"..."}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33104" y="4416552"/>
            <a:ext cx="384048" cy="411480"/>
            <a:chOff x="0" y="0"/>
            <a:chExt cx="512064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">
                  <a:moveTo>
                    <a:pt x="0" y="137160"/>
                  </a:moveTo>
                  <a:lnTo>
                    <a:pt x="256032" y="137160"/>
                  </a:lnTo>
                  <a:lnTo>
                    <a:pt x="256032" y="0"/>
                  </a:lnTo>
                  <a:lnTo>
                    <a:pt x="512064" y="274320"/>
                  </a:lnTo>
                  <a:lnTo>
                    <a:pt x="256032" y="548640"/>
                  </a:lnTo>
                  <a:lnTo>
                    <a:pt x="256032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35059" y="3556635"/>
            <a:ext cx="3722370" cy="2145030"/>
            <a:chOff x="0" y="0"/>
            <a:chExt cx="4963160" cy="2860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63160" cy="2860040"/>
            </a:xfrm>
            <a:custGeom>
              <a:avLst/>
              <a:gdLst/>
              <a:ahLst/>
              <a:cxnLst/>
              <a:rect r="r" b="b" t="t" l="l"/>
              <a:pathLst>
                <a:path h="2860040" w="49631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815586" y="0"/>
                  </a:lnTo>
                  <a:cubicBezTo>
                    <a:pt x="4897120" y="0"/>
                    <a:pt x="4963160" y="66040"/>
                    <a:pt x="4963160" y="147574"/>
                  </a:cubicBezTo>
                  <a:lnTo>
                    <a:pt x="4963160" y="2712466"/>
                  </a:lnTo>
                  <a:cubicBezTo>
                    <a:pt x="4963160" y="2794000"/>
                    <a:pt x="4897120" y="2860040"/>
                    <a:pt x="481558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450324" y="3771900"/>
            <a:ext cx="3291840" cy="411480"/>
            <a:chOff x="0" y="0"/>
            <a:chExt cx="438912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389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50324" y="4251960"/>
            <a:ext cx="3291840" cy="1303020"/>
            <a:chOff x="0" y="0"/>
            <a:chExt cx="4389120" cy="1737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89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3891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the real</a:t>
              </a:r>
            </a:p>
            <a:p>
              <a:pPr algn="l">
                <a:lnSpc>
                  <a:spcPts val="1800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 / API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975336" y="4416552"/>
            <a:ext cx="384048" cy="411480"/>
            <a:chOff x="0" y="0"/>
            <a:chExt cx="512064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">
                  <a:moveTo>
                    <a:pt x="0" y="137160"/>
                  </a:moveTo>
                  <a:lnTo>
                    <a:pt x="256032" y="137160"/>
                  </a:lnTo>
                  <a:lnTo>
                    <a:pt x="256032" y="0"/>
                  </a:lnTo>
                  <a:lnTo>
                    <a:pt x="512064" y="274320"/>
                  </a:lnTo>
                  <a:lnTo>
                    <a:pt x="256032" y="548640"/>
                  </a:lnTo>
                  <a:lnTo>
                    <a:pt x="256032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377291" y="3556635"/>
            <a:ext cx="3722370" cy="2145030"/>
            <a:chOff x="0" y="0"/>
            <a:chExt cx="4963160" cy="2860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63160" cy="2860040"/>
            </a:xfrm>
            <a:custGeom>
              <a:avLst/>
              <a:gdLst/>
              <a:ahLst/>
              <a:cxnLst/>
              <a:rect r="r" b="b" t="t" l="l"/>
              <a:pathLst>
                <a:path h="2860040" w="49631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815586" y="0"/>
                  </a:lnTo>
                  <a:cubicBezTo>
                    <a:pt x="4897120" y="0"/>
                    <a:pt x="4963160" y="66040"/>
                    <a:pt x="4963160" y="147574"/>
                  </a:cubicBezTo>
                  <a:lnTo>
                    <a:pt x="4963160" y="2712466"/>
                  </a:lnTo>
                  <a:cubicBezTo>
                    <a:pt x="4963160" y="2794000"/>
                    <a:pt x="4897120" y="2860040"/>
                    <a:pt x="481558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592556" y="3771900"/>
            <a:ext cx="3291840" cy="411480"/>
            <a:chOff x="0" y="0"/>
            <a:chExt cx="438912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389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592556" y="4251960"/>
            <a:ext cx="3291840" cy="1303020"/>
            <a:chOff x="0" y="0"/>
            <a:chExt cx="4389120" cy="1737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3891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returned to the</a:t>
              </a:r>
            </a:p>
            <a:p>
              <a:pPr algn="l">
                <a:lnSpc>
                  <a:spcPts val="1800"/>
                </a:lnSpc>
              </a:pPr>
              <a:r>
                <a:rPr lang="en-US" sz="15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as context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0120" y="6309360"/>
            <a:ext cx="6858000" cy="480060"/>
            <a:chOff x="0" y="0"/>
            <a:chExt cx="914400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Common tool types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0120" y="6926580"/>
            <a:ext cx="5074920" cy="658368"/>
            <a:chOff x="0" y="0"/>
            <a:chExt cx="6766560" cy="8778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6327648" y="0"/>
                  </a:lnTo>
                  <a:cubicBezTo>
                    <a:pt x="6570091" y="0"/>
                    <a:pt x="6766560" y="196469"/>
                    <a:pt x="6766560" y="438912"/>
                  </a:cubicBezTo>
                  <a:cubicBezTo>
                    <a:pt x="6766560" y="681355"/>
                    <a:pt x="6570091" y="877824"/>
                    <a:pt x="6327648" y="877824"/>
                  </a:cubicBezTo>
                  <a:lnTo>
                    <a:pt x="438912" y="877824"/>
                  </a:ln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0120" y="6926580"/>
            <a:ext cx="5074920" cy="658368"/>
            <a:chOff x="0" y="0"/>
            <a:chExt cx="6766560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67665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search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377940" y="6926580"/>
            <a:ext cx="5074920" cy="658368"/>
            <a:chOff x="0" y="0"/>
            <a:chExt cx="6766560" cy="8778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6327648" y="0"/>
                  </a:lnTo>
                  <a:cubicBezTo>
                    <a:pt x="6570091" y="0"/>
                    <a:pt x="6766560" y="196469"/>
                    <a:pt x="6766560" y="438912"/>
                  </a:cubicBezTo>
                  <a:cubicBezTo>
                    <a:pt x="6766560" y="681355"/>
                    <a:pt x="6570091" y="877824"/>
                    <a:pt x="6327648" y="877824"/>
                  </a:cubicBezTo>
                  <a:lnTo>
                    <a:pt x="438912" y="877824"/>
                  </a:ln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377940" y="6926580"/>
            <a:ext cx="5074920" cy="658368"/>
            <a:chOff x="0" y="0"/>
            <a:chExt cx="676656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67665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execution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795760" y="6926580"/>
            <a:ext cx="5074920" cy="658368"/>
            <a:chOff x="0" y="0"/>
            <a:chExt cx="6766560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6327648" y="0"/>
                  </a:lnTo>
                  <a:cubicBezTo>
                    <a:pt x="6570091" y="0"/>
                    <a:pt x="6766560" y="196469"/>
                    <a:pt x="6766560" y="438912"/>
                  </a:cubicBezTo>
                  <a:cubicBezTo>
                    <a:pt x="6766560" y="681355"/>
                    <a:pt x="6570091" y="877824"/>
                    <a:pt x="6327648" y="877824"/>
                  </a:cubicBezTo>
                  <a:lnTo>
                    <a:pt x="438912" y="877824"/>
                  </a:ln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795760" y="6926580"/>
            <a:ext cx="5074920" cy="658368"/>
            <a:chOff x="0" y="0"/>
            <a:chExt cx="6766560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67665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/ SQL query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0120" y="7749540"/>
            <a:ext cx="5074920" cy="658368"/>
            <a:chOff x="0" y="0"/>
            <a:chExt cx="6766560" cy="8778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6327648" y="0"/>
                  </a:lnTo>
                  <a:cubicBezTo>
                    <a:pt x="6570091" y="0"/>
                    <a:pt x="6766560" y="196469"/>
                    <a:pt x="6766560" y="438912"/>
                  </a:cubicBezTo>
                  <a:cubicBezTo>
                    <a:pt x="6766560" y="681355"/>
                    <a:pt x="6570091" y="877824"/>
                    <a:pt x="6327648" y="877824"/>
                  </a:cubicBezTo>
                  <a:lnTo>
                    <a:pt x="438912" y="877824"/>
                  </a:ln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0120" y="7749540"/>
            <a:ext cx="5074920" cy="658368"/>
            <a:chOff x="0" y="0"/>
            <a:chExt cx="6766560" cy="8778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67665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read/write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377940" y="7749540"/>
            <a:ext cx="5074920" cy="658368"/>
            <a:chOff x="0" y="0"/>
            <a:chExt cx="6766560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6327648" y="0"/>
                  </a:lnTo>
                  <a:cubicBezTo>
                    <a:pt x="6570091" y="0"/>
                    <a:pt x="6766560" y="196469"/>
                    <a:pt x="6766560" y="438912"/>
                  </a:cubicBezTo>
                  <a:cubicBezTo>
                    <a:pt x="6766560" y="681355"/>
                    <a:pt x="6570091" y="877824"/>
                    <a:pt x="6327648" y="877824"/>
                  </a:cubicBezTo>
                  <a:lnTo>
                    <a:pt x="438912" y="877824"/>
                  </a:ln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377940" y="7749540"/>
            <a:ext cx="5074920" cy="658368"/>
            <a:chOff x="0" y="0"/>
            <a:chExt cx="6766560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67665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External APIs (CRM, calendar)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795760" y="7749540"/>
            <a:ext cx="5074920" cy="658368"/>
            <a:chOff x="0" y="0"/>
            <a:chExt cx="6766560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6327648" y="0"/>
                  </a:lnTo>
                  <a:cubicBezTo>
                    <a:pt x="6570091" y="0"/>
                    <a:pt x="6766560" y="196469"/>
                    <a:pt x="6766560" y="438912"/>
                  </a:cubicBezTo>
                  <a:cubicBezTo>
                    <a:pt x="6766560" y="681355"/>
                    <a:pt x="6570091" y="877824"/>
                    <a:pt x="6327648" y="877824"/>
                  </a:cubicBezTo>
                  <a:lnTo>
                    <a:pt x="438912" y="877824"/>
                  </a:ln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795760" y="7749540"/>
            <a:ext cx="5074920" cy="658368"/>
            <a:chOff x="0" y="0"/>
            <a:chExt cx="6766560" cy="8778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766560" cy="877824"/>
            </a:xfrm>
            <a:custGeom>
              <a:avLst/>
              <a:gdLst/>
              <a:ahLst/>
              <a:cxnLst/>
              <a:rect r="r" b="b" t="t" l="l"/>
              <a:pathLst>
                <a:path h="87782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67665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MCP-connected services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CORE CONCEPTS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Memory: Short-Term vs. Long-Term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96515"/>
            <a:ext cx="7700010" cy="6328410"/>
            <a:chOff x="0" y="0"/>
            <a:chExt cx="10266680" cy="8437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1026668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0156698" y="0"/>
                  </a:lnTo>
                  <a:cubicBezTo>
                    <a:pt x="10217404" y="0"/>
                    <a:pt x="10266680" y="49276"/>
                    <a:pt x="10266680" y="109982"/>
                  </a:cubicBezTo>
                  <a:lnTo>
                    <a:pt x="10266680" y="8327898"/>
                  </a:lnTo>
                  <a:cubicBezTo>
                    <a:pt x="10266680" y="8388604"/>
                    <a:pt x="10217404" y="8437880"/>
                    <a:pt x="10156698" y="8437880"/>
                  </a:cubicBezTo>
                  <a:lnTo>
                    <a:pt x="109982" y="8437880"/>
                  </a:lnTo>
                  <a:cubicBezTo>
                    <a:pt x="49276" y="8437880"/>
                    <a:pt x="0" y="8388604"/>
                    <a:pt x="0" y="832789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948940"/>
            <a:ext cx="6858000" cy="685800"/>
            <a:chOff x="0" y="0"/>
            <a:chExt cx="91440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144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SHORT-TERM (working memory)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991356"/>
            <a:ext cx="123444" cy="123444"/>
            <a:chOff x="0" y="0"/>
            <a:chExt cx="164592" cy="164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08760" y="3534808"/>
            <a:ext cx="6515100" cy="1028700"/>
            <a:chOff x="0" y="0"/>
            <a:chExt cx="868680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Lives inside the context window for the current run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5198364"/>
            <a:ext cx="123444" cy="123444"/>
            <a:chOff x="0" y="0"/>
            <a:chExt cx="164592" cy="164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08760" y="4741816"/>
            <a:ext cx="6515100" cy="1028700"/>
            <a:chOff x="0" y="0"/>
            <a:chExt cx="86868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Holds the current plan, recent tool results, scratch notes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6405372"/>
            <a:ext cx="123444" cy="123444"/>
            <a:chOff x="0" y="0"/>
            <a:chExt cx="164592" cy="164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08760" y="5948824"/>
            <a:ext cx="6515100" cy="1028700"/>
            <a:chOff x="0" y="0"/>
            <a:chExt cx="868680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Cheap, fast — but bounded by context length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7612380"/>
            <a:ext cx="123444" cy="123444"/>
            <a:chOff x="0" y="0"/>
            <a:chExt cx="164592" cy="164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08760" y="7155832"/>
            <a:ext cx="6515100" cy="1028700"/>
            <a:chOff x="0" y="0"/>
            <a:chExt cx="868680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Lost when the session ends (unless persisted)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05875" y="2596515"/>
            <a:ext cx="7700010" cy="6328410"/>
            <a:chOff x="0" y="0"/>
            <a:chExt cx="10266680" cy="8437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666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1026668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0156698" y="0"/>
                  </a:lnTo>
                  <a:cubicBezTo>
                    <a:pt x="10217404" y="0"/>
                    <a:pt x="10266680" y="49276"/>
                    <a:pt x="10266680" y="109982"/>
                  </a:cubicBezTo>
                  <a:lnTo>
                    <a:pt x="10266680" y="8327898"/>
                  </a:lnTo>
                  <a:cubicBezTo>
                    <a:pt x="10266680" y="8388604"/>
                    <a:pt x="10217404" y="8437880"/>
                    <a:pt x="10156698" y="8437880"/>
                  </a:cubicBezTo>
                  <a:lnTo>
                    <a:pt x="109982" y="8437880"/>
                  </a:lnTo>
                  <a:cubicBezTo>
                    <a:pt x="49276" y="8437880"/>
                    <a:pt x="0" y="8388604"/>
                    <a:pt x="0" y="8327898"/>
                  </a:cubicBezTo>
                  <a:close/>
                </a:path>
              </a:pathLst>
            </a:custGeom>
            <a:solidFill>
              <a:srgbClr val="161B33"/>
            </a:solidFill>
            <a:ln w="19050" cap="sq">
              <a:solidFill>
                <a:srgbClr val="161B3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326880" y="2948940"/>
            <a:ext cx="6858000" cy="685800"/>
            <a:chOff x="0" y="0"/>
            <a:chExt cx="91440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144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LONG-TERM (persistent memory)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3991356"/>
            <a:ext cx="123444" cy="123444"/>
            <a:chOff x="0" y="0"/>
            <a:chExt cx="164592" cy="164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69780" y="3534808"/>
            <a:ext cx="6515100" cy="1028700"/>
            <a:chOff x="0" y="0"/>
            <a:chExt cx="868680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Stored externally: vector DB, file, database, or key-value store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26880" y="5198364"/>
            <a:ext cx="123444" cy="123444"/>
            <a:chOff x="0" y="0"/>
            <a:chExt cx="164592" cy="164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69780" y="4741816"/>
            <a:ext cx="6515100" cy="1028700"/>
            <a:chOff x="0" y="0"/>
            <a:chExt cx="8686800" cy="1371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Holds facts, past interactions, learned preferences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6880" y="6405372"/>
            <a:ext cx="123444" cy="123444"/>
            <a:chOff x="0" y="0"/>
            <a:chExt cx="164592" cy="164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69780" y="5948824"/>
            <a:ext cx="6515100" cy="1028700"/>
            <a:chOff x="0" y="0"/>
            <a:chExt cx="8686800" cy="1371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Retrieved selectively via search / embeddings when relevant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6880" y="7612380"/>
            <a:ext cx="123444" cy="123444"/>
            <a:chOff x="0" y="0"/>
            <a:chExt cx="164592" cy="164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69780" y="7155832"/>
            <a:ext cx="6515100" cy="1028700"/>
            <a:chOff x="0" y="0"/>
            <a:chExt cx="8686800" cy="1371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68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686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Survives across sessions — enables the agent to "remember you"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CORE CONCEPTS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Planning Strategies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20240"/>
            <a:ext cx="12344400" cy="548640"/>
            <a:chOff x="0" y="0"/>
            <a:chExt cx="16459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an agent decides what to do next.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733675"/>
            <a:ext cx="5162550" cy="5916930"/>
            <a:chOff x="0" y="0"/>
            <a:chExt cx="6883400" cy="7889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7889240"/>
            </a:xfrm>
            <a:custGeom>
              <a:avLst/>
              <a:gdLst/>
              <a:ahLst/>
              <a:cxnLst/>
              <a:rect r="r" b="b" t="t" l="l"/>
              <a:pathLst>
                <a:path h="7889240" w="6883400">
                  <a:moveTo>
                    <a:pt x="0" y="128524"/>
                  </a:moveTo>
                  <a:cubicBezTo>
                    <a:pt x="0" y="57531"/>
                    <a:pt x="57531" y="0"/>
                    <a:pt x="128524" y="0"/>
                  </a:cubicBezTo>
                  <a:lnTo>
                    <a:pt x="6754876" y="0"/>
                  </a:lnTo>
                  <a:cubicBezTo>
                    <a:pt x="6825869" y="0"/>
                    <a:pt x="6883400" y="57531"/>
                    <a:pt x="6883400" y="128524"/>
                  </a:cubicBezTo>
                  <a:lnTo>
                    <a:pt x="6883400" y="7760716"/>
                  </a:lnTo>
                  <a:cubicBezTo>
                    <a:pt x="6883400" y="7831710"/>
                    <a:pt x="6825869" y="7889240"/>
                    <a:pt x="6754876" y="7889240"/>
                  </a:cubicBezTo>
                  <a:lnTo>
                    <a:pt x="128524" y="7889240"/>
                  </a:lnTo>
                  <a:cubicBezTo>
                    <a:pt x="57531" y="7889240"/>
                    <a:pt x="0" y="7831709"/>
                    <a:pt x="0" y="776071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154680"/>
            <a:ext cx="1234440" cy="1234440"/>
            <a:chOff x="0" y="0"/>
            <a:chExt cx="164592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3154680"/>
            <a:ext cx="1234440" cy="1234440"/>
            <a:chOff x="0" y="0"/>
            <a:chExt cx="1645920" cy="164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64592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D9C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663440"/>
            <a:ext cx="4320540" cy="617220"/>
            <a:chOff x="0" y="0"/>
            <a:chExt cx="576072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76072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ReAct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5280660"/>
            <a:ext cx="4320540" cy="548640"/>
            <a:chOff x="0" y="0"/>
            <a:chExt cx="57607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7607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3E5C76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Reason + Act, interleaved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5120">
            <a:off x="1224896" y="5961697"/>
            <a:ext cx="4339628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234440" y="6172200"/>
            <a:ext cx="4320540" cy="2194560"/>
            <a:chOff x="0" y="0"/>
            <a:chExt cx="5760720" cy="2926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60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170" t="0" r="-1517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76072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Think one step, act, observe, think again. Simple, transparent, good default for tool-heavy tasks.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99835" y="2733675"/>
            <a:ext cx="5162550" cy="5916930"/>
            <a:chOff x="0" y="0"/>
            <a:chExt cx="6883400" cy="7889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83400" cy="7889240"/>
            </a:xfrm>
            <a:custGeom>
              <a:avLst/>
              <a:gdLst/>
              <a:ahLst/>
              <a:cxnLst/>
              <a:rect r="r" b="b" t="t" l="l"/>
              <a:pathLst>
                <a:path h="7889240" w="6883400">
                  <a:moveTo>
                    <a:pt x="0" y="128524"/>
                  </a:moveTo>
                  <a:cubicBezTo>
                    <a:pt x="0" y="57531"/>
                    <a:pt x="57531" y="0"/>
                    <a:pt x="128524" y="0"/>
                  </a:cubicBezTo>
                  <a:lnTo>
                    <a:pt x="6754876" y="0"/>
                  </a:lnTo>
                  <a:cubicBezTo>
                    <a:pt x="6825869" y="0"/>
                    <a:pt x="6883400" y="57531"/>
                    <a:pt x="6883400" y="128524"/>
                  </a:cubicBezTo>
                  <a:lnTo>
                    <a:pt x="6883400" y="7760716"/>
                  </a:lnTo>
                  <a:cubicBezTo>
                    <a:pt x="6883400" y="7831710"/>
                    <a:pt x="6825869" y="7889240"/>
                    <a:pt x="6754876" y="7889240"/>
                  </a:cubicBezTo>
                  <a:lnTo>
                    <a:pt x="128524" y="7889240"/>
                  </a:lnTo>
                  <a:cubicBezTo>
                    <a:pt x="57531" y="7889240"/>
                    <a:pt x="0" y="7831709"/>
                    <a:pt x="0" y="776071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20840" y="3154680"/>
            <a:ext cx="1234440" cy="1234440"/>
            <a:chOff x="0" y="0"/>
            <a:chExt cx="1645920" cy="1645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20840" y="3154680"/>
            <a:ext cx="1234440" cy="1234440"/>
            <a:chOff x="0" y="0"/>
            <a:chExt cx="164592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64592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D9C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720840" y="4663440"/>
            <a:ext cx="4320540" cy="617220"/>
            <a:chOff x="0" y="0"/>
            <a:chExt cx="576072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76072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Reflection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720840" y="5280660"/>
            <a:ext cx="4320540" cy="548640"/>
            <a:chOff x="0" y="0"/>
            <a:chExt cx="57607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7607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3E5C76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Self-critique loop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15120">
            <a:off x="6711296" y="5961697"/>
            <a:ext cx="4339628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6720840" y="6172200"/>
            <a:ext cx="4320540" cy="2194560"/>
            <a:chOff x="0" y="0"/>
            <a:chExt cx="5760720" cy="2926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60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170" t="0" r="-1517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576072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reviews its own output against the goal and revises before finalizing. Improves quality, costs extra calls.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786235" y="2733675"/>
            <a:ext cx="5162550" cy="5916930"/>
            <a:chOff x="0" y="0"/>
            <a:chExt cx="6883400" cy="7889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83400" cy="7889240"/>
            </a:xfrm>
            <a:custGeom>
              <a:avLst/>
              <a:gdLst/>
              <a:ahLst/>
              <a:cxnLst/>
              <a:rect r="r" b="b" t="t" l="l"/>
              <a:pathLst>
                <a:path h="7889240" w="6883400">
                  <a:moveTo>
                    <a:pt x="0" y="128524"/>
                  </a:moveTo>
                  <a:cubicBezTo>
                    <a:pt x="0" y="57531"/>
                    <a:pt x="57531" y="0"/>
                    <a:pt x="128524" y="0"/>
                  </a:cubicBezTo>
                  <a:lnTo>
                    <a:pt x="6754876" y="0"/>
                  </a:lnTo>
                  <a:cubicBezTo>
                    <a:pt x="6825869" y="0"/>
                    <a:pt x="6883400" y="57531"/>
                    <a:pt x="6883400" y="128524"/>
                  </a:cubicBezTo>
                  <a:lnTo>
                    <a:pt x="6883400" y="7760716"/>
                  </a:lnTo>
                  <a:cubicBezTo>
                    <a:pt x="6883400" y="7831710"/>
                    <a:pt x="6825869" y="7889240"/>
                    <a:pt x="6754876" y="7889240"/>
                  </a:cubicBezTo>
                  <a:lnTo>
                    <a:pt x="128524" y="7889240"/>
                  </a:lnTo>
                  <a:cubicBezTo>
                    <a:pt x="57531" y="7889240"/>
                    <a:pt x="0" y="7831709"/>
                    <a:pt x="0" y="776071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207240" y="3154680"/>
            <a:ext cx="1234440" cy="1234440"/>
            <a:chOff x="0" y="0"/>
            <a:chExt cx="1645920" cy="1645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207240" y="3154680"/>
            <a:ext cx="1234440" cy="1234440"/>
            <a:chOff x="0" y="0"/>
            <a:chExt cx="1645920" cy="16459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64592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D9C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07240" y="4663440"/>
            <a:ext cx="4320540" cy="617220"/>
            <a:chOff x="0" y="0"/>
            <a:chExt cx="576072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76072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Plan-and-Execute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207240" y="5280660"/>
            <a:ext cx="4320540" cy="548640"/>
            <a:chOff x="0" y="0"/>
            <a:chExt cx="576072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57607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3E5C76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Plan upfront, then run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15120">
            <a:off x="12197696" y="5961697"/>
            <a:ext cx="4339628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2207240" y="6172200"/>
            <a:ext cx="4320540" cy="2194560"/>
            <a:chOff x="0" y="0"/>
            <a:chExt cx="5760720" cy="2926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60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170" t="0" r="-1517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76072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planner drafts the full step sequence first; an executor works through it, replanning only on failure. Efficient for well-scoped tasks.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CORE CONCEPTS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Multi-Agent Orchestration Patterns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When one agent isn't enough, systems compose several — each scoped to a narrow role.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2948940"/>
            <a:ext cx="7680960" cy="480060"/>
            <a:chOff x="0" y="0"/>
            <a:chExt cx="1024128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241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ORCHESTRATOR → WORKERS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23260" y="3566160"/>
            <a:ext cx="3154680" cy="822960"/>
            <a:chOff x="0" y="0"/>
            <a:chExt cx="42062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987552"/>
                  </a:lnTo>
                  <a:cubicBezTo>
                    <a:pt x="4206240" y="1048131"/>
                    <a:pt x="4157091" y="1097280"/>
                    <a:pt x="409651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223260" y="3566160"/>
            <a:ext cx="3154680" cy="822960"/>
            <a:chOff x="0" y="0"/>
            <a:chExt cx="42062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20624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Orchestrator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5349240"/>
            <a:ext cx="2331720" cy="754380"/>
            <a:chOff x="0" y="0"/>
            <a:chExt cx="310896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896112"/>
                  </a:lnTo>
                  <a:cubicBezTo>
                    <a:pt x="3108960" y="956691"/>
                    <a:pt x="3059811" y="1005840"/>
                    <a:pt x="29992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0120" y="5349240"/>
            <a:ext cx="2331720" cy="754380"/>
            <a:chOff x="0" y="0"/>
            <a:chExt cx="310896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108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 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566160" y="5349240"/>
            <a:ext cx="2331720" cy="754380"/>
            <a:chOff x="0" y="0"/>
            <a:chExt cx="310896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896112"/>
                  </a:lnTo>
                  <a:cubicBezTo>
                    <a:pt x="3108960" y="956691"/>
                    <a:pt x="3059811" y="1005840"/>
                    <a:pt x="29992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566160" y="5349240"/>
            <a:ext cx="2331720" cy="754380"/>
            <a:chOff x="0" y="0"/>
            <a:chExt cx="310896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108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 B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257420">
            <a:off x="4700521" y="4864418"/>
            <a:ext cx="2737609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6172200" y="5349240"/>
            <a:ext cx="2331720" cy="754380"/>
            <a:chOff x="0" y="0"/>
            <a:chExt cx="310896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896112"/>
                  </a:lnTo>
                  <a:cubicBezTo>
                    <a:pt x="3108960" y="956691"/>
                    <a:pt x="3059811" y="1005840"/>
                    <a:pt x="29992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172200" y="5349240"/>
            <a:ext cx="2331720" cy="754380"/>
            <a:chOff x="0" y="0"/>
            <a:chExt cx="310896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108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 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6446520"/>
            <a:ext cx="7680960" cy="1371600"/>
            <a:chOff x="0" y="0"/>
            <a:chExt cx="1024128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2412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 planner delegates subtasks to specialist workers, then merges results. Predictable, easy to debug. (CrewAI's hierarchical mode)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0" y="2948940"/>
            <a:ext cx="7680960" cy="480060"/>
            <a:chOff x="0" y="0"/>
            <a:chExt cx="1024128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241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CONVERSATIONAL / PEER AGENTS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13980">
            <a:off x="10551776" y="4110038"/>
            <a:ext cx="4682528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2180700">
            <a:off x="10301040" y="4864418"/>
            <a:ext cx="2577951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2105880">
            <a:off x="12995681" y="4898708"/>
            <a:ext cx="2537908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9875520" y="3771900"/>
            <a:ext cx="2331720" cy="754380"/>
            <a:chOff x="0" y="0"/>
            <a:chExt cx="310896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896112"/>
                  </a:lnTo>
                  <a:cubicBezTo>
                    <a:pt x="3108960" y="956691"/>
                    <a:pt x="3059811" y="1005840"/>
                    <a:pt x="29992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75520" y="3771900"/>
            <a:ext cx="2331720" cy="754380"/>
            <a:chOff x="0" y="0"/>
            <a:chExt cx="310896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108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538960" y="3771900"/>
            <a:ext cx="2331720" cy="754380"/>
            <a:chOff x="0" y="0"/>
            <a:chExt cx="310896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896112"/>
                  </a:lnTo>
                  <a:cubicBezTo>
                    <a:pt x="3108960" y="956691"/>
                    <a:pt x="3059811" y="1005840"/>
                    <a:pt x="29992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538960" y="3771900"/>
            <a:ext cx="2331720" cy="754380"/>
            <a:chOff x="0" y="0"/>
            <a:chExt cx="310896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108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B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207240" y="5554980"/>
            <a:ext cx="2331720" cy="754380"/>
            <a:chOff x="0" y="0"/>
            <a:chExt cx="310896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896112"/>
                  </a:lnTo>
                  <a:cubicBezTo>
                    <a:pt x="3108960" y="956691"/>
                    <a:pt x="3059811" y="1005840"/>
                    <a:pt x="299923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207240" y="5554980"/>
            <a:ext cx="2331720" cy="754380"/>
            <a:chOff x="0" y="0"/>
            <a:chExt cx="3108960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08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1089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01200" y="6446520"/>
            <a:ext cx="7680960" cy="1371600"/>
            <a:chOff x="0" y="0"/>
            <a:chExt cx="10241280" cy="182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Agents converse, debate, or review each other's work in a shared thread until consensus or a stop condition. Flexible, harder to bound. (AutoGen's group chat)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ARCHITECTURES &amp; FRAMEWORKS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Choosing a Framework in 2026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537460"/>
          <a:ext cx="16554450" cy="5943600"/>
        </p:xfrm>
        <a:graphic>
          <a:graphicData uri="http://schemas.openxmlformats.org/drawingml/2006/table">
            <a:tbl>
              <a:tblPr/>
              <a:tblGrid>
                <a:gridCol w="3148577"/>
                <a:gridCol w="3351468"/>
                <a:gridCol w="3351468"/>
                <a:gridCol w="3351468"/>
                <a:gridCol w="3351468"/>
              </a:tblGrid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CrewAI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AutoGen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LangGraph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LangChain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3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3E5C7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Best for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Role-based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task crews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Conversational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multi-agent debate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Complex stateful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control flow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Composable chains,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full manual control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3E5C7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Learning curve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Easiest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Steepest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Easy–Medium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3E5C7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Control / flexibility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Least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(you wire it)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3E5C7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Multi-agent style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Hierarchical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delegation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Group chat /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debate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Explicit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graph edges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Manual chaining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with the `|` operator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3E5C7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Production maturity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Solid, growing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Improving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(MSFT shifting focus</a:t>
                      </a:r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 Agent Framework)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Most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battle-tested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Most widely used</a:t>
                      </a:r>
                      <a:endParaRPr lang="en-US" sz="1100"/>
                    </a:p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500">
                          <a:solidFill>
                            <a:srgbClr val="1A1D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foundation library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8846820"/>
            <a:ext cx="15087600" cy="548640"/>
            <a:chOff x="0" y="0"/>
            <a:chExt cx="201168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universal winner — match the framework to the workload shape, not the hype.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ARCHITECTURES &amp; FRAMEWORKS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Is LangChain?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057400"/>
            <a:ext cx="15087600" cy="548640"/>
            <a:chOff x="0" y="0"/>
            <a:chExt cx="201168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idea: small reusable pieces, connected with a pipe.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2939415"/>
            <a:ext cx="4613910" cy="1870710"/>
            <a:chOff x="0" y="0"/>
            <a:chExt cx="6151880" cy="2494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51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151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004052" y="0"/>
                  </a:lnTo>
                  <a:cubicBezTo>
                    <a:pt x="6085713" y="0"/>
                    <a:pt x="6151880" y="66167"/>
                    <a:pt x="6151880" y="147828"/>
                  </a:cubicBezTo>
                  <a:lnTo>
                    <a:pt x="6151880" y="2346452"/>
                  </a:lnTo>
                  <a:cubicBezTo>
                    <a:pt x="6151880" y="2428113"/>
                    <a:pt x="6085713" y="2494280"/>
                    <a:pt x="6004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40180" y="3154680"/>
            <a:ext cx="4183380" cy="411480"/>
            <a:chOff x="0" y="0"/>
            <a:chExt cx="557784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77840" cy="548640"/>
            </a:xfrm>
            <a:custGeom>
              <a:avLst/>
              <a:gdLst/>
              <a:ahLst/>
              <a:cxnLst/>
              <a:rect r="r" b="b" t="t" l="l"/>
              <a:pathLst>
                <a:path h="5486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5778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0180" y="3703320"/>
            <a:ext cx="4183380" cy="960120"/>
            <a:chOff x="0" y="0"/>
            <a:chExt cx="557784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778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577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instructions</a:t>
              </a:r>
            </a:p>
            <a:p>
              <a:pPr algn="l">
                <a:lnSpc>
                  <a:spcPts val="195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input variables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70448" y="3634740"/>
            <a:ext cx="411480" cy="493776"/>
            <a:chOff x="0" y="0"/>
            <a:chExt cx="548640" cy="658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" cy="658368"/>
            </a:xfrm>
            <a:custGeom>
              <a:avLst/>
              <a:gdLst/>
              <a:ahLst/>
              <a:cxnLst/>
              <a:rect r="r" b="b" t="t" l="l"/>
              <a:pathLst>
                <a:path h="658368" w="548640">
                  <a:moveTo>
                    <a:pt x="0" y="164592"/>
                  </a:moveTo>
                  <a:lnTo>
                    <a:pt x="274320" y="164592"/>
                  </a:lnTo>
                  <a:lnTo>
                    <a:pt x="274320" y="0"/>
                  </a:lnTo>
                  <a:lnTo>
                    <a:pt x="548640" y="329184"/>
                  </a:lnTo>
                  <a:lnTo>
                    <a:pt x="274320" y="658368"/>
                  </a:lnTo>
                  <a:lnTo>
                    <a:pt x="27432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99835" y="2939415"/>
            <a:ext cx="4613910" cy="1870710"/>
            <a:chOff x="0" y="0"/>
            <a:chExt cx="6151880" cy="2494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51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151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004052" y="0"/>
                  </a:lnTo>
                  <a:cubicBezTo>
                    <a:pt x="6085713" y="0"/>
                    <a:pt x="6151880" y="66167"/>
                    <a:pt x="6151880" y="147828"/>
                  </a:cubicBezTo>
                  <a:lnTo>
                    <a:pt x="6151880" y="2346452"/>
                  </a:lnTo>
                  <a:cubicBezTo>
                    <a:pt x="6151880" y="2428113"/>
                    <a:pt x="6085713" y="2494280"/>
                    <a:pt x="6004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161B33"/>
            </a:solidFill>
            <a:ln w="19050" cap="sq">
              <a:solidFill>
                <a:srgbClr val="161B3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15100" y="3154680"/>
            <a:ext cx="4183380" cy="411480"/>
            <a:chOff x="0" y="0"/>
            <a:chExt cx="557784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77840" cy="548640"/>
            </a:xfrm>
            <a:custGeom>
              <a:avLst/>
              <a:gdLst/>
              <a:ahLst/>
              <a:cxnLst/>
              <a:rect r="r" b="b" t="t" l="l"/>
              <a:pathLst>
                <a:path h="5486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5778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15100" y="3703320"/>
            <a:ext cx="4183380" cy="960120"/>
            <a:chOff x="0" y="0"/>
            <a:chExt cx="557784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778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577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 that</a:t>
              </a:r>
            </a:p>
            <a:p>
              <a:pPr algn="l">
                <a:lnSpc>
                  <a:spcPts val="195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generates a response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45368" y="3634740"/>
            <a:ext cx="411480" cy="493776"/>
            <a:chOff x="0" y="0"/>
            <a:chExt cx="548640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" cy="658368"/>
            </a:xfrm>
            <a:custGeom>
              <a:avLst/>
              <a:gdLst/>
              <a:ahLst/>
              <a:cxnLst/>
              <a:rect r="r" b="b" t="t" l="l"/>
              <a:pathLst>
                <a:path h="658368" w="548640">
                  <a:moveTo>
                    <a:pt x="0" y="164592"/>
                  </a:moveTo>
                  <a:lnTo>
                    <a:pt x="274320" y="164592"/>
                  </a:lnTo>
                  <a:lnTo>
                    <a:pt x="274320" y="0"/>
                  </a:lnTo>
                  <a:lnTo>
                    <a:pt x="548640" y="329184"/>
                  </a:lnTo>
                  <a:lnTo>
                    <a:pt x="274320" y="658368"/>
                  </a:lnTo>
                  <a:lnTo>
                    <a:pt x="27432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74755" y="2939415"/>
            <a:ext cx="4613910" cy="1870710"/>
            <a:chOff x="0" y="0"/>
            <a:chExt cx="6151880" cy="2494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51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6151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004052" y="0"/>
                  </a:lnTo>
                  <a:cubicBezTo>
                    <a:pt x="6085713" y="0"/>
                    <a:pt x="6151880" y="66167"/>
                    <a:pt x="6151880" y="147828"/>
                  </a:cubicBezTo>
                  <a:lnTo>
                    <a:pt x="6151880" y="2346452"/>
                  </a:lnTo>
                  <a:cubicBezTo>
                    <a:pt x="6151880" y="2428113"/>
                    <a:pt x="6085713" y="2494280"/>
                    <a:pt x="6004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590020" y="3154680"/>
            <a:ext cx="4183380" cy="411480"/>
            <a:chOff x="0" y="0"/>
            <a:chExt cx="557784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77840" cy="548640"/>
            </a:xfrm>
            <a:custGeom>
              <a:avLst/>
              <a:gdLst/>
              <a:ahLst/>
              <a:cxnLst/>
              <a:rect r="r" b="b" t="t" l="l"/>
              <a:pathLst>
                <a:path h="5486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5778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Parser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590020" y="3703320"/>
            <a:ext cx="4183380" cy="960120"/>
            <a:chOff x="0" y="0"/>
            <a:chExt cx="557784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778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577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cleans the raw</a:t>
              </a:r>
            </a:p>
            <a:p>
              <a:pPr algn="l">
                <a:lnSpc>
                  <a:spcPts val="195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response into text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4440" y="5074920"/>
            <a:ext cx="14401800" cy="548640"/>
            <a:chOff x="0" y="0"/>
            <a:chExt cx="19202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202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1A1D2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whole thing is called a chain — the smallest unit LangChain builds with.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4440" y="6172200"/>
            <a:ext cx="14401800" cy="1440180"/>
            <a:chOff x="0" y="0"/>
            <a:chExt cx="19202400" cy="1920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202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9074385" y="0"/>
                  </a:lnTo>
                  <a:cubicBezTo>
                    <a:pt x="19145123" y="0"/>
                    <a:pt x="19202400" y="57277"/>
                    <a:pt x="19202400" y="128016"/>
                  </a:cubicBezTo>
                  <a:lnTo>
                    <a:pt x="19202400" y="1792224"/>
                  </a:lnTo>
                  <a:cubicBezTo>
                    <a:pt x="19202400" y="1862963"/>
                    <a:pt x="19145123" y="1920240"/>
                    <a:pt x="19074385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77340" y="6309360"/>
            <a:ext cx="13716000" cy="548640"/>
            <a:chOff x="0" y="0"/>
            <a:chExt cx="182880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8288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0D9C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chain = prompt | llm | parser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77340" y="6926580"/>
            <a:ext cx="13716000" cy="617220"/>
            <a:chOff x="0" y="0"/>
            <a:chExt cx="18288000" cy="822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00" cy="822960"/>
            </a:xfrm>
            <a:custGeom>
              <a:avLst/>
              <a:gdLst/>
              <a:ahLst/>
              <a:cxnLst/>
              <a:rect r="r" b="b" t="t" l="l"/>
              <a:pathLst>
                <a:path h="822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82880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FE8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"LCEL" (LangChain Expression Language) — the "|" reads as "then send this into that," same idea as a Unix pipe.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4440" y="8023860"/>
            <a:ext cx="8229600" cy="480060"/>
            <a:chOff x="0" y="0"/>
            <a:chExt cx="1097280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the other frameworks fit in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4440" y="8503920"/>
            <a:ext cx="14538960" cy="960120"/>
            <a:chOff x="0" y="0"/>
            <a:chExt cx="1938528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385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938528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LangChain is the base toolkit (chains, tools, model wrappers). LangGraph adds stateful graph control on top of it. CrewAI takes a different, higher-level approach: ready-made roles and orchestration instead of wiring chains by hand.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ARCHITECTURES &amp; FRAMEWORKS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Tools: How a Chain Takes Real Action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0574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tool is just a normal Python function, marked so an agent can call it.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16596360" cy="2125980"/>
            <a:chOff x="0" y="0"/>
            <a:chExt cx="22128480" cy="2834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79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2706624"/>
                  </a:lnTo>
                  <a:cubicBezTo>
                    <a:pt x="22128479" y="2777363"/>
                    <a:pt x="22071202" y="2834640"/>
                    <a:pt x="22000463" y="2834640"/>
                  </a:cubicBezTo>
                  <a:lnTo>
                    <a:pt x="128016" y="2834640"/>
                  </a:lnTo>
                  <a:cubicBezTo>
                    <a:pt x="57277" y="2834640"/>
                    <a:pt x="0" y="2777363"/>
                    <a:pt x="0" y="2706624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948940"/>
            <a:ext cx="15773400" cy="1714500"/>
            <a:chOff x="0" y="0"/>
            <a:chExt cx="210312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0312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950">
                  <a:solidFill>
                    <a:srgbClr val="00D9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@tool</a:t>
              </a:r>
            </a:p>
            <a:p>
              <a:pPr algn="l">
                <a:lnSpc>
                  <a:spcPts val="2400"/>
                </a:lnSpc>
              </a:pPr>
              <a:r>
                <a:rPr lang="en-US" sz="1950">
                  <a:solidFill>
                    <a:srgbClr val="00D9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 web_search(query: str) -&gt; str:</a:t>
              </a:r>
            </a:p>
            <a:p>
              <a:pPr algn="l">
                <a:lnSpc>
                  <a:spcPts val="2400"/>
                </a:lnSpc>
              </a:pPr>
              <a:r>
                <a:rPr lang="en-US" sz="1950">
                  <a:solidFill>
                    <a:srgbClr val="00D9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"""Search the web and return a few short results."""</a:t>
              </a:r>
            </a:p>
            <a:p>
              <a:pPr algn="l">
                <a:lnSpc>
                  <a:spcPts val="2400"/>
                </a:lnSpc>
              </a:pPr>
              <a:r>
                <a:rPr lang="en-US" sz="1950">
                  <a:solidFill>
                    <a:srgbClr val="00D9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...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507492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docstring is what the agent reads to decide WHEN to use this tool — same idea as CrewAI's @tool, different library.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3435" y="5682615"/>
            <a:ext cx="7700010" cy="3516630"/>
            <a:chOff x="0" y="0"/>
            <a:chExt cx="10266680" cy="4688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668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26668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10156317" y="0"/>
                  </a:lnTo>
                  <a:cubicBezTo>
                    <a:pt x="10217277" y="0"/>
                    <a:pt x="10266680" y="49403"/>
                    <a:pt x="10266680" y="110363"/>
                  </a:cubicBezTo>
                  <a:lnTo>
                    <a:pt x="10266680" y="4578477"/>
                  </a:lnTo>
                  <a:cubicBezTo>
                    <a:pt x="10266680" y="4639437"/>
                    <a:pt x="10217277" y="4688840"/>
                    <a:pt x="10156317" y="4688840"/>
                  </a:cubicBezTo>
                  <a:lnTo>
                    <a:pt x="110363" y="4688840"/>
                  </a:lnTo>
                  <a:cubicBezTo>
                    <a:pt x="49403" y="4688840"/>
                    <a:pt x="0" y="4639437"/>
                    <a:pt x="0" y="4578477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6035040"/>
            <a:ext cx="6858000" cy="548640"/>
            <a:chOff x="0" y="0"/>
            <a:chExt cx="91440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PLAIN CHAIN (no tool)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4440" y="6954012"/>
            <a:ext cx="123444" cy="123444"/>
            <a:chOff x="0" y="0"/>
            <a:chExt cx="164592" cy="164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77340" y="6720840"/>
            <a:ext cx="6515100" cy="1165860"/>
            <a:chOff x="0" y="0"/>
            <a:chExt cx="868680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686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prompt | llm | parser — always runs the same three steps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" y="8119872"/>
            <a:ext cx="123444" cy="123444"/>
            <a:chOff x="0" y="0"/>
            <a:chExt cx="164592" cy="164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77340" y="7886700"/>
            <a:ext cx="6515100" cy="1165860"/>
            <a:chOff x="0" y="0"/>
            <a:chExt cx="868680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686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when the task is well-scoped and doesn't need outside info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05875" y="5682615"/>
            <a:ext cx="7700010" cy="3516630"/>
            <a:chOff x="0" y="0"/>
            <a:chExt cx="10266680" cy="4688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6668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26668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10156317" y="0"/>
                  </a:lnTo>
                  <a:cubicBezTo>
                    <a:pt x="10217277" y="0"/>
                    <a:pt x="10266680" y="49403"/>
                    <a:pt x="10266680" y="110363"/>
                  </a:cubicBezTo>
                  <a:lnTo>
                    <a:pt x="10266680" y="4578477"/>
                  </a:lnTo>
                  <a:cubicBezTo>
                    <a:pt x="10266680" y="4639437"/>
                    <a:pt x="10217277" y="4688840"/>
                    <a:pt x="10156317" y="4688840"/>
                  </a:cubicBezTo>
                  <a:lnTo>
                    <a:pt x="110363" y="4688840"/>
                  </a:lnTo>
                  <a:cubicBezTo>
                    <a:pt x="49403" y="4688840"/>
                    <a:pt x="0" y="4639437"/>
                    <a:pt x="0" y="4578477"/>
                  </a:cubicBezTo>
                  <a:close/>
                </a:path>
              </a:pathLst>
            </a:custGeom>
            <a:solidFill>
              <a:srgbClr val="161B33"/>
            </a:solidFill>
            <a:ln w="19050" cap="sq">
              <a:solidFill>
                <a:srgbClr val="161B3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326880" y="6035040"/>
            <a:ext cx="6858000" cy="548640"/>
            <a:chOff x="0" y="0"/>
            <a:chExt cx="91440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TOOL-CALLING AGENT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26880" y="6954012"/>
            <a:ext cx="123444" cy="123444"/>
            <a:chOff x="0" y="0"/>
            <a:chExt cx="164592" cy="164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669780" y="6720840"/>
            <a:ext cx="6515100" cy="1165860"/>
            <a:chOff x="0" y="0"/>
            <a:chExt cx="8686800" cy="1554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686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with create_agent(model, tools=[...]) — the model decides IF and WHEN to call a tool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8119872"/>
            <a:ext cx="123444" cy="123444"/>
            <a:chOff x="0" y="0"/>
            <a:chExt cx="164592" cy="164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69780" y="7886700"/>
            <a:ext cx="6515100" cy="1165860"/>
            <a:chOff x="0" y="0"/>
            <a:chExt cx="868680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686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is the Agent Loop from Section 2 — perceive, reason, act, observe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ARCHITECTURES &amp; FRAMEWORKS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Chaining Multiple Agents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0574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LangChain's specialty: a straight-line pipeline, one agent's output feeding the next.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3213735"/>
            <a:ext cx="3585210" cy="3173730"/>
            <a:chOff x="0" y="0"/>
            <a:chExt cx="4780280" cy="4231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80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47802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633087" y="0"/>
                  </a:lnTo>
                  <a:cubicBezTo>
                    <a:pt x="4714367" y="0"/>
                    <a:pt x="4780280" y="65913"/>
                    <a:pt x="4780280" y="147193"/>
                  </a:cubicBezTo>
                  <a:lnTo>
                    <a:pt x="4780280" y="4084447"/>
                  </a:lnTo>
                  <a:cubicBezTo>
                    <a:pt x="4780280" y="4165727"/>
                    <a:pt x="4714367" y="4231640"/>
                    <a:pt x="46330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3470148"/>
            <a:ext cx="3154680" cy="411480"/>
            <a:chOff x="0" y="0"/>
            <a:chExt cx="420624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206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860" y="3909060"/>
            <a:ext cx="3154680" cy="548640"/>
            <a:chOff x="0" y="0"/>
            <a:chExt cx="4206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2062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Researcher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20640">
            <a:off x="1156306" y="4590097"/>
            <a:ext cx="3173787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65860" y="4800600"/>
            <a:ext cx="3154680" cy="1303020"/>
            <a:chOff x="0" y="0"/>
            <a:chExt cx="4206240" cy="1737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2062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gathers raw info</a:t>
              </a:r>
            </a:p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(uses a tool)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94860" y="4526280"/>
            <a:ext cx="480060" cy="548640"/>
            <a:chOff x="0" y="0"/>
            <a:chExt cx="64008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182880"/>
                  </a:moveTo>
                  <a:lnTo>
                    <a:pt x="320040" y="182880"/>
                  </a:lnTo>
                  <a:lnTo>
                    <a:pt x="320040" y="0"/>
                  </a:lnTo>
                  <a:lnTo>
                    <a:pt x="640080" y="365760"/>
                  </a:lnTo>
                  <a:lnTo>
                    <a:pt x="320040" y="731520"/>
                  </a:lnTo>
                  <a:lnTo>
                    <a:pt x="3200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65395" y="3213735"/>
            <a:ext cx="3585210" cy="3173730"/>
            <a:chOff x="0" y="0"/>
            <a:chExt cx="4780280" cy="4231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80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47802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633087" y="0"/>
                  </a:lnTo>
                  <a:cubicBezTo>
                    <a:pt x="4714367" y="0"/>
                    <a:pt x="4780280" y="65913"/>
                    <a:pt x="4780280" y="147193"/>
                  </a:cubicBezTo>
                  <a:lnTo>
                    <a:pt x="4780280" y="4084447"/>
                  </a:lnTo>
                  <a:cubicBezTo>
                    <a:pt x="4780280" y="4165727"/>
                    <a:pt x="4714367" y="4231640"/>
                    <a:pt x="46330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280660" y="3470148"/>
            <a:ext cx="3154680" cy="411480"/>
            <a:chOff x="0" y="0"/>
            <a:chExt cx="420624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206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80660" y="3909060"/>
            <a:ext cx="3154680" cy="548640"/>
            <a:chOff x="0" y="0"/>
            <a:chExt cx="42062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2062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Analyst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20640">
            <a:off x="5271106" y="4590097"/>
            <a:ext cx="3173787" cy="0"/>
          </a:xfrm>
          <a:prstGeom prst="line">
            <a:avLst/>
          </a:prstGeom>
          <a:ln cap="rnd" w="9525">
            <a:solidFill>
              <a:srgbClr val="C7CD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5280660" y="4800600"/>
            <a:ext cx="3154680" cy="1303020"/>
            <a:chOff x="0" y="0"/>
            <a:chExt cx="420624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06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2062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picks key facts +</a:t>
              </a:r>
            </a:p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explains why they matter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09660" y="4526280"/>
            <a:ext cx="480060" cy="548640"/>
            <a:chOff x="0" y="0"/>
            <a:chExt cx="6400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182880"/>
                  </a:moveTo>
                  <a:lnTo>
                    <a:pt x="320040" y="182880"/>
                  </a:lnTo>
                  <a:lnTo>
                    <a:pt x="320040" y="0"/>
                  </a:lnTo>
                  <a:lnTo>
                    <a:pt x="640080" y="365760"/>
                  </a:lnTo>
                  <a:lnTo>
                    <a:pt x="320040" y="731520"/>
                  </a:lnTo>
                  <a:lnTo>
                    <a:pt x="3200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80195" y="3213735"/>
            <a:ext cx="3585210" cy="3173730"/>
            <a:chOff x="0" y="0"/>
            <a:chExt cx="4780280" cy="4231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80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47802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633087" y="0"/>
                  </a:lnTo>
                  <a:cubicBezTo>
                    <a:pt x="4714367" y="0"/>
                    <a:pt x="4780280" y="65913"/>
                    <a:pt x="4780280" y="147193"/>
                  </a:cubicBezTo>
                  <a:lnTo>
                    <a:pt x="4780280" y="4084447"/>
                  </a:lnTo>
                  <a:cubicBezTo>
                    <a:pt x="4780280" y="4165727"/>
                    <a:pt x="4714367" y="4231640"/>
                    <a:pt x="46330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161B33"/>
            </a:solidFill>
            <a:ln w="19050" cap="sq">
              <a:solidFill>
                <a:srgbClr val="161B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395460" y="3470148"/>
            <a:ext cx="3154680" cy="411480"/>
            <a:chOff x="0" y="0"/>
            <a:chExt cx="420624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206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95460" y="3909060"/>
            <a:ext cx="3154680" cy="548640"/>
            <a:chOff x="0" y="0"/>
            <a:chExt cx="42062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2062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Writer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20640">
            <a:off x="9385906" y="4590097"/>
            <a:ext cx="3173787" cy="0"/>
          </a:xfrm>
          <a:prstGeom prst="line">
            <a:avLst/>
          </a:prstGeom>
          <a:ln cap="rnd" w="9525">
            <a:solidFill>
              <a:srgbClr val="00D9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9395460" y="4800600"/>
            <a:ext cx="3154680" cy="1303020"/>
            <a:chOff x="0" y="0"/>
            <a:chExt cx="4206240" cy="1737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06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2062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CFE8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turns the analysis into</a:t>
              </a:r>
            </a:p>
            <a:p>
              <a:pPr algn="l">
                <a:lnSpc>
                  <a:spcPts val="2100"/>
                </a:lnSpc>
              </a:pPr>
              <a:r>
                <a:rPr lang="en-US" sz="1650">
                  <a:solidFill>
                    <a:srgbClr val="CFE8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flowing narrative prose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0120" y="6858000"/>
            <a:ext cx="8229600" cy="480060"/>
            <a:chOff x="0" y="0"/>
            <a:chExt cx="1097280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split it into three agents instead of one long prompt?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120" y="7571232"/>
            <a:ext cx="123444" cy="123444"/>
            <a:chOff x="0" y="0"/>
            <a:chExt cx="164592" cy="164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03020" y="7392924"/>
            <a:ext cx="15636240" cy="576072"/>
            <a:chOff x="0" y="0"/>
            <a:chExt cx="20848320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848320" cy="768096"/>
            </a:xfrm>
            <a:custGeom>
              <a:avLst/>
              <a:gdLst/>
              <a:ahLst/>
              <a:cxnLst/>
              <a:rect r="r" b="b" t="t" l="l"/>
              <a:pathLst>
                <a:path h="76809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8483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agent has ONE narrow job — easier to write a good prompt for, easier to debug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0120" y="8188452"/>
            <a:ext cx="123444" cy="123444"/>
            <a:chOff x="0" y="0"/>
            <a:chExt cx="164592" cy="164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03020" y="8010144"/>
            <a:ext cx="15636240" cy="576072"/>
            <a:chOff x="0" y="0"/>
            <a:chExt cx="20848320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848320" cy="768096"/>
            </a:xfrm>
            <a:custGeom>
              <a:avLst/>
              <a:gdLst/>
              <a:ahLst/>
              <a:cxnLst/>
              <a:rect r="r" b="b" t="t" l="l"/>
              <a:pathLst>
                <a:path h="76809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08483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can test and fix each stage on its own before chaining them together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0120" y="8805672"/>
            <a:ext cx="123444" cy="123444"/>
            <a:chOff x="0" y="0"/>
            <a:chExt cx="164592" cy="164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03020" y="8627364"/>
            <a:ext cx="15636240" cy="576072"/>
            <a:chOff x="0" y="0"/>
            <a:chExt cx="20848320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848320" cy="768096"/>
            </a:xfrm>
            <a:custGeom>
              <a:avLst/>
              <a:gdLst/>
              <a:ahLst/>
              <a:cxnLst/>
              <a:rect r="r" b="b" t="t" l="l"/>
              <a:pathLst>
                <a:path h="76809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08483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is a straight-line version of the Orchestrator → Workers pattern from Section 2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ARCHITECTURES &amp; FRAMEWORKS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 You Even Need an Agent?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0574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Agents cost more tokens, latency, and risk than a script. Reach for one only when the task earns it.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870835"/>
            <a:ext cx="7700010" cy="6054090"/>
            <a:chOff x="0" y="0"/>
            <a:chExt cx="10266680" cy="8072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6680" cy="8072120"/>
            </a:xfrm>
            <a:custGeom>
              <a:avLst/>
              <a:gdLst/>
              <a:ahLst/>
              <a:cxnLst/>
              <a:rect r="r" b="b" t="t" l="l"/>
              <a:pathLst>
                <a:path h="8072120" w="10266680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10156571" y="0"/>
                  </a:lnTo>
                  <a:cubicBezTo>
                    <a:pt x="10217403" y="0"/>
                    <a:pt x="10266680" y="49276"/>
                    <a:pt x="10266680" y="110109"/>
                  </a:cubicBezTo>
                  <a:lnTo>
                    <a:pt x="10266680" y="7962011"/>
                  </a:lnTo>
                  <a:cubicBezTo>
                    <a:pt x="10266680" y="8022844"/>
                    <a:pt x="10217403" y="8072120"/>
                    <a:pt x="10156571" y="8072120"/>
                  </a:cubicBezTo>
                  <a:lnTo>
                    <a:pt x="110109" y="8072120"/>
                  </a:lnTo>
                  <a:cubicBezTo>
                    <a:pt x="49276" y="8072120"/>
                    <a:pt x="0" y="8022844"/>
                    <a:pt x="0" y="7962011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223260"/>
            <a:ext cx="6858000" cy="685800"/>
            <a:chOff x="0" y="0"/>
            <a:chExt cx="91440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144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SIMPLE AUTOMATION / SCRIPT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4183380"/>
            <a:ext cx="301752" cy="301752"/>
            <a:chOff x="0" y="0"/>
            <a:chExt cx="402336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5920" y="3909060"/>
            <a:ext cx="6309360" cy="891540"/>
            <a:chOff x="0" y="0"/>
            <a:chExt cx="8412480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steps and order are known in advance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5308092"/>
            <a:ext cx="301752" cy="301752"/>
            <a:chOff x="0" y="0"/>
            <a:chExt cx="402336" cy="402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" y="5033772"/>
            <a:ext cx="6309360" cy="891540"/>
            <a:chOff x="0" y="0"/>
            <a:chExt cx="8412480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Inputs are structured and predictable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440" y="6432804"/>
            <a:ext cx="301752" cy="301752"/>
            <a:chOff x="0" y="0"/>
            <a:chExt cx="402336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5920" y="6158484"/>
            <a:ext cx="6309360" cy="891540"/>
            <a:chOff x="0" y="0"/>
            <a:chExt cx="8412480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need deterministic, auditable behavior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7557516"/>
            <a:ext cx="301752" cy="301752"/>
            <a:chOff x="0" y="0"/>
            <a:chExt cx="402336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45920" y="7283196"/>
            <a:ext cx="6309360" cy="891540"/>
            <a:chOff x="0" y="0"/>
            <a:chExt cx="8412480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Latency and cost must be minimal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905875" y="2870835"/>
            <a:ext cx="7700010" cy="6054090"/>
            <a:chOff x="0" y="0"/>
            <a:chExt cx="10266680" cy="8072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66680" cy="8072120"/>
            </a:xfrm>
            <a:custGeom>
              <a:avLst/>
              <a:gdLst/>
              <a:ahLst/>
              <a:cxnLst/>
              <a:rect r="r" b="b" t="t" l="l"/>
              <a:pathLst>
                <a:path h="8072120" w="10266680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10156571" y="0"/>
                  </a:lnTo>
                  <a:cubicBezTo>
                    <a:pt x="10217403" y="0"/>
                    <a:pt x="10266680" y="49276"/>
                    <a:pt x="10266680" y="110109"/>
                  </a:cubicBezTo>
                  <a:lnTo>
                    <a:pt x="10266680" y="7962011"/>
                  </a:lnTo>
                  <a:cubicBezTo>
                    <a:pt x="10266680" y="8022844"/>
                    <a:pt x="10217403" y="8072120"/>
                    <a:pt x="10156571" y="8072120"/>
                  </a:cubicBezTo>
                  <a:lnTo>
                    <a:pt x="110109" y="8072120"/>
                  </a:lnTo>
                  <a:cubicBezTo>
                    <a:pt x="49276" y="8072120"/>
                    <a:pt x="0" y="8022844"/>
                    <a:pt x="0" y="7962011"/>
                  </a:cubicBezTo>
                  <a:close/>
                </a:path>
              </a:pathLst>
            </a:custGeom>
            <a:solidFill>
              <a:srgbClr val="161B33"/>
            </a:solidFill>
            <a:ln w="19050" cap="sq">
              <a:solidFill>
                <a:srgbClr val="161B3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3223260"/>
            <a:ext cx="6858000" cy="685800"/>
            <a:chOff x="0" y="0"/>
            <a:chExt cx="91440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144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AN AGENT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4183380"/>
            <a:ext cx="301752" cy="301752"/>
            <a:chOff x="0" y="0"/>
            <a:chExt cx="402336" cy="4023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42932" y="3909060"/>
            <a:ext cx="6309360" cy="891540"/>
            <a:chOff x="0" y="0"/>
            <a:chExt cx="8412480" cy="1188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path depends on what's discovered mid-task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0" y="5308092"/>
            <a:ext cx="301752" cy="301752"/>
            <a:chOff x="0" y="0"/>
            <a:chExt cx="402336" cy="402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42932" y="5033772"/>
            <a:ext cx="6309360" cy="891540"/>
            <a:chOff x="0" y="0"/>
            <a:chExt cx="8412480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Inputs are unstructured or highly variable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26880" y="6432804"/>
            <a:ext cx="301752" cy="301752"/>
            <a:chOff x="0" y="0"/>
            <a:chExt cx="402336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42932" y="6158484"/>
            <a:ext cx="6309360" cy="891540"/>
            <a:chOff x="0" y="0"/>
            <a:chExt cx="8412480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task needs judgment, tool selection, or research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26880" y="7557516"/>
            <a:ext cx="301752" cy="301752"/>
            <a:chOff x="0" y="0"/>
            <a:chExt cx="402336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29184" y="0"/>
                  </a:lnTo>
                  <a:cubicBezTo>
                    <a:pt x="369570" y="0"/>
                    <a:pt x="402336" y="32766"/>
                    <a:pt x="402336" y="73152"/>
                  </a:cubicBezTo>
                  <a:lnTo>
                    <a:pt x="402336" y="329184"/>
                  </a:lnTo>
                  <a:cubicBezTo>
                    <a:pt x="402336" y="369570"/>
                    <a:pt x="369570" y="402336"/>
                    <a:pt x="329184" y="402336"/>
                  </a:cubicBezTo>
                  <a:lnTo>
                    <a:pt x="73152" y="402336"/>
                  </a:lnTo>
                  <a:cubicBezTo>
                    <a:pt x="32766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00D9C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42932" y="7283196"/>
            <a:ext cx="6309360" cy="891540"/>
            <a:chOff x="0" y="0"/>
            <a:chExt cx="8412480" cy="11887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412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94" r="0" b="-8789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412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Occasional errors are acceptable with review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DESIGN PATTERNS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Guardrails That Keep Agents Safe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5299710" cy="2556510"/>
            <a:chOff x="0" y="0"/>
            <a:chExt cx="7066280" cy="3408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839212"/>
            <a:ext cx="617220" cy="617220"/>
            <a:chOff x="0" y="0"/>
            <a:chExt cx="82296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839212"/>
            <a:ext cx="617220" cy="617220"/>
            <a:chOff x="0" y="0"/>
            <a:chExt cx="82296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3607308"/>
            <a:ext cx="4594860" cy="548640"/>
            <a:chOff x="0" y="0"/>
            <a:chExt cx="61264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Human-in-the-loop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4114800"/>
            <a:ext cx="4594860" cy="891540"/>
            <a:chOff x="0" y="0"/>
            <a:chExt cx="6126480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26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126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 approval before high-stakes or irreversible actions (payments, sends, deletes).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36995" y="2527935"/>
            <a:ext cx="5299710" cy="2556510"/>
            <a:chOff x="0" y="0"/>
            <a:chExt cx="7066280" cy="3408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89420" y="2839212"/>
            <a:ext cx="617220" cy="617220"/>
            <a:chOff x="0" y="0"/>
            <a:chExt cx="82296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89420" y="2839212"/>
            <a:ext cx="617220" cy="617220"/>
            <a:chOff x="0" y="0"/>
            <a:chExt cx="82296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89420" y="3607308"/>
            <a:ext cx="4594860" cy="548640"/>
            <a:chOff x="0" y="0"/>
            <a:chExt cx="612648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Bounded iterations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89420" y="4114800"/>
            <a:ext cx="4594860" cy="891540"/>
            <a:chOff x="0" y="0"/>
            <a:chExt cx="6126480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26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126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 the number of loop turns / tool calls so a stuck agent can't run forever.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60555" y="2527935"/>
            <a:ext cx="5299710" cy="2556510"/>
            <a:chOff x="0" y="0"/>
            <a:chExt cx="7066280" cy="3408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412980" y="2839212"/>
            <a:ext cx="617220" cy="617220"/>
            <a:chOff x="0" y="0"/>
            <a:chExt cx="822960" cy="822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12980" y="2839212"/>
            <a:ext cx="617220" cy="617220"/>
            <a:chOff x="0" y="0"/>
            <a:chExt cx="82296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12980" y="3607308"/>
            <a:ext cx="4594860" cy="548640"/>
            <a:chOff x="0" y="0"/>
            <a:chExt cx="612648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Scoped tool access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12980" y="4114800"/>
            <a:ext cx="4594860" cy="891540"/>
            <a:chOff x="0" y="0"/>
            <a:chExt cx="612648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26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126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Give each agent only the tools and data it needs — least-privilege by design.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435" y="5408295"/>
            <a:ext cx="5299710" cy="2556510"/>
            <a:chOff x="0" y="0"/>
            <a:chExt cx="7066280" cy="3408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5719572"/>
            <a:ext cx="617220" cy="617220"/>
            <a:chOff x="0" y="0"/>
            <a:chExt cx="82296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65860" y="5719572"/>
            <a:ext cx="617220" cy="617220"/>
            <a:chOff x="0" y="0"/>
            <a:chExt cx="822960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65860" y="6487668"/>
            <a:ext cx="4594860" cy="548640"/>
            <a:chOff x="0" y="0"/>
            <a:chExt cx="612648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Structured output &amp; validation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5860" y="6995160"/>
            <a:ext cx="4594860" cy="891540"/>
            <a:chOff x="0" y="0"/>
            <a:chExt cx="6126480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26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126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Force tool calls through a schema; reject and retry malformed calls.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436995" y="5408295"/>
            <a:ext cx="5299710" cy="2556510"/>
            <a:chOff x="0" y="0"/>
            <a:chExt cx="7066280" cy="34086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6789420" y="5719572"/>
            <a:ext cx="617220" cy="617220"/>
            <a:chOff x="0" y="0"/>
            <a:chExt cx="822960" cy="822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789420" y="5719572"/>
            <a:ext cx="617220" cy="617220"/>
            <a:chOff x="0" y="0"/>
            <a:chExt cx="82296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789420" y="6487668"/>
            <a:ext cx="4594860" cy="548640"/>
            <a:chOff x="0" y="0"/>
            <a:chExt cx="612648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Observability &amp; logging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789420" y="6995160"/>
            <a:ext cx="4594860" cy="891540"/>
            <a:chOff x="0" y="0"/>
            <a:chExt cx="6126480" cy="11887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26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126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Trace every reasoning step and tool call so failures are diagnosable, not mysterious.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060555" y="5408295"/>
            <a:ext cx="5299710" cy="2556510"/>
            <a:chOff x="0" y="0"/>
            <a:chExt cx="7066280" cy="34086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412980" y="5719572"/>
            <a:ext cx="617220" cy="617220"/>
            <a:chOff x="0" y="0"/>
            <a:chExt cx="822960" cy="8229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12980" y="5719572"/>
            <a:ext cx="617220" cy="617220"/>
            <a:chOff x="0" y="0"/>
            <a:chExt cx="822960" cy="822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412980" y="6487668"/>
            <a:ext cx="4594860" cy="548640"/>
            <a:chOff x="0" y="0"/>
            <a:chExt cx="612648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Fallback / escalation path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412980" y="6995160"/>
            <a:ext cx="4594860" cy="891540"/>
            <a:chOff x="0" y="0"/>
            <a:chExt cx="6126480" cy="11887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126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12648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Define what happens when the agent can't complete the task — hand off, don't hallucinate.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DESIGN PATTERNS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Failure Modes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057400"/>
            <a:ext cx="13716000" cy="548640"/>
            <a:chOff x="0" y="0"/>
            <a:chExt cx="182880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CFE8E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actually goes wrong in production agents — watch for these.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870835"/>
            <a:ext cx="5299710" cy="2556510"/>
            <a:chOff x="0" y="0"/>
            <a:chExt cx="7066280" cy="3408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1F2547"/>
            </a:solidFill>
            <a:ln w="19050" cap="sq">
              <a:solidFill>
                <a:srgbClr val="2E355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3182112"/>
            <a:ext cx="548640" cy="548640"/>
            <a:chOff x="0" y="0"/>
            <a:chExt cx="7315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3182112"/>
            <a:ext cx="548640" cy="548640"/>
            <a:chOff x="0" y="0"/>
            <a:chExt cx="731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3909060"/>
            <a:ext cx="4594860" cy="548640"/>
            <a:chOff x="0" y="0"/>
            <a:chExt cx="612648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Infinite / runaway loops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4416552"/>
            <a:ext cx="4594860" cy="932688"/>
            <a:chOff x="0" y="0"/>
            <a:chExt cx="6126480" cy="12435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26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92" r="0" b="-459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12648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EB4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keeps retrying a failing action without a stop condition.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36995" y="2870835"/>
            <a:ext cx="5299710" cy="2556510"/>
            <a:chOff x="0" y="0"/>
            <a:chExt cx="7066280" cy="3408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1F2547"/>
            </a:solidFill>
            <a:ln w="19050" cap="sq">
              <a:solidFill>
                <a:srgbClr val="2E355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789420" y="3182112"/>
            <a:ext cx="548640" cy="548640"/>
            <a:chOff x="0" y="0"/>
            <a:chExt cx="7315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789420" y="3182112"/>
            <a:ext cx="548640" cy="548640"/>
            <a:chOff x="0" y="0"/>
            <a:chExt cx="7315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89420" y="3909060"/>
            <a:ext cx="4594860" cy="548640"/>
            <a:chOff x="0" y="0"/>
            <a:chExt cx="61264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Hallucinated tool calls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89420" y="4416552"/>
            <a:ext cx="4594860" cy="932688"/>
            <a:chOff x="0" y="0"/>
            <a:chExt cx="6126480" cy="12435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126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92" r="0" b="-459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12648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EB4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invents a tool, parameter, or API that doesn't exist.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60555" y="2870835"/>
            <a:ext cx="5299710" cy="2556510"/>
            <a:chOff x="0" y="0"/>
            <a:chExt cx="7066280" cy="3408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1F2547"/>
            </a:solidFill>
            <a:ln w="19050" cap="sq">
              <a:solidFill>
                <a:srgbClr val="2E355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412980" y="3182112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412980" y="3182112"/>
            <a:ext cx="548640" cy="548640"/>
            <a:chOff x="0" y="0"/>
            <a:chExt cx="731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12980" y="3909060"/>
            <a:ext cx="4594860" cy="548640"/>
            <a:chOff x="0" y="0"/>
            <a:chExt cx="61264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injection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12980" y="4416552"/>
            <a:ext cx="4594860" cy="932688"/>
            <a:chOff x="0" y="0"/>
            <a:chExt cx="6126480" cy="12435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26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92" r="0" b="-459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12648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EB4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Malicious content in a webpage or document hijacks the agent's instructions.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13435" y="5751195"/>
            <a:ext cx="5299710" cy="2556510"/>
            <a:chOff x="0" y="0"/>
            <a:chExt cx="7066280" cy="3408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1F2547"/>
            </a:solidFill>
            <a:ln w="19050" cap="sq">
              <a:solidFill>
                <a:srgbClr val="2E355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65860" y="6062472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65860" y="6062472"/>
            <a:ext cx="548640" cy="548640"/>
            <a:chOff x="0" y="0"/>
            <a:chExt cx="731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5860" y="6789420"/>
            <a:ext cx="4594860" cy="548640"/>
            <a:chOff x="0" y="0"/>
            <a:chExt cx="612648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rot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65860" y="7296912"/>
            <a:ext cx="4594860" cy="932688"/>
            <a:chOff x="0" y="0"/>
            <a:chExt cx="6126480" cy="12435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26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92" r="0" b="-4599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12648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EB4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Long-running agents lose track of the original goal as context fills up.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36995" y="5751195"/>
            <a:ext cx="5299710" cy="2556510"/>
            <a:chOff x="0" y="0"/>
            <a:chExt cx="7066280" cy="34086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1F2547"/>
            </a:solidFill>
            <a:ln w="19050" cap="sq">
              <a:solidFill>
                <a:srgbClr val="2E355C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789420" y="6062472"/>
            <a:ext cx="548640" cy="548640"/>
            <a:chOff x="0" y="0"/>
            <a:chExt cx="7315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789420" y="6062472"/>
            <a:ext cx="548640" cy="548640"/>
            <a:chOff x="0" y="0"/>
            <a:chExt cx="73152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789420" y="6789420"/>
            <a:ext cx="4594860" cy="548640"/>
            <a:chOff x="0" y="0"/>
            <a:chExt cx="612648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Silent partial failure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789420" y="7296912"/>
            <a:ext cx="4594860" cy="932688"/>
            <a:chOff x="0" y="0"/>
            <a:chExt cx="6126480" cy="12435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126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92" r="0" b="-4599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12648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EB4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step fails quietly and the agent reports success anyway.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060555" y="5751195"/>
            <a:ext cx="5299710" cy="2556510"/>
            <a:chOff x="0" y="0"/>
            <a:chExt cx="7066280" cy="3408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0662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70662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6937248" y="0"/>
                  </a:lnTo>
                  <a:cubicBezTo>
                    <a:pt x="7008495" y="0"/>
                    <a:pt x="7066280" y="57785"/>
                    <a:pt x="7066280" y="129032"/>
                  </a:cubicBezTo>
                  <a:lnTo>
                    <a:pt x="7066280" y="3279648"/>
                  </a:lnTo>
                  <a:cubicBezTo>
                    <a:pt x="7066280" y="3350895"/>
                    <a:pt x="7008495" y="3408680"/>
                    <a:pt x="6937248" y="3408680"/>
                  </a:cubicBezTo>
                  <a:lnTo>
                    <a:pt x="129032" y="3408680"/>
                  </a:lnTo>
                  <a:cubicBezTo>
                    <a:pt x="57785" y="3408680"/>
                    <a:pt x="0" y="3350895"/>
                    <a:pt x="0" y="3279648"/>
                  </a:cubicBezTo>
                  <a:close/>
                </a:path>
              </a:pathLst>
            </a:custGeom>
            <a:solidFill>
              <a:srgbClr val="1F2547"/>
            </a:solidFill>
            <a:ln w="19050" cap="sq">
              <a:solidFill>
                <a:srgbClr val="2E355C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2412980" y="6062472"/>
            <a:ext cx="548640" cy="548640"/>
            <a:chOff x="0" y="0"/>
            <a:chExt cx="73152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412980" y="6062472"/>
            <a:ext cx="548640" cy="548640"/>
            <a:chOff x="0" y="0"/>
            <a:chExt cx="73152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412980" y="6789420"/>
            <a:ext cx="4594860" cy="548640"/>
            <a:chOff x="0" y="0"/>
            <a:chExt cx="612648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12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12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Cost/latency blowup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12980" y="7296912"/>
            <a:ext cx="4594860" cy="932688"/>
            <a:chOff x="0" y="0"/>
            <a:chExt cx="6126480" cy="12435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126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92" r="0" b="-4599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12648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EB4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Unbounded planning or reflection loops burn tokens and time.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93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93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2344400" cy="960120"/>
            <a:chOff x="0" y="0"/>
            <a:chExt cx="164592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459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D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We're Building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57400"/>
            <a:ext cx="15773400" cy="548640"/>
            <a:chOff x="0" y="0"/>
            <a:chExt cx="210312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single agent with two tools: web search and a calculator — the simplest complete agent loop.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7755" y="3145155"/>
            <a:ext cx="3173730" cy="1390650"/>
            <a:chOff x="0" y="0"/>
            <a:chExt cx="4231640" cy="1854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16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4231640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4101846" y="0"/>
                  </a:lnTo>
                  <a:cubicBezTo>
                    <a:pt x="4173474" y="0"/>
                    <a:pt x="4231640" y="58166"/>
                    <a:pt x="4231640" y="129794"/>
                  </a:cubicBezTo>
                  <a:lnTo>
                    <a:pt x="4231640" y="1724406"/>
                  </a:lnTo>
                  <a:cubicBezTo>
                    <a:pt x="4231640" y="1796034"/>
                    <a:pt x="4173474" y="1854200"/>
                    <a:pt x="4101846" y="1854200"/>
                  </a:cubicBezTo>
                  <a:lnTo>
                    <a:pt x="129794" y="1854200"/>
                  </a:lnTo>
                  <a:cubicBezTo>
                    <a:pt x="58166" y="1854200"/>
                    <a:pt x="0" y="1796034"/>
                    <a:pt x="0" y="172440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154680"/>
            <a:ext cx="3154680" cy="1371600"/>
            <a:chOff x="0" y="0"/>
            <a:chExt cx="420624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062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Query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389120" y="3593592"/>
            <a:ext cx="617220" cy="493776"/>
            <a:chOff x="0" y="0"/>
            <a:chExt cx="822960" cy="658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">
                  <a:moveTo>
                    <a:pt x="0" y="164592"/>
                  </a:moveTo>
                  <a:lnTo>
                    <a:pt x="493776" y="164592"/>
                  </a:lnTo>
                  <a:lnTo>
                    <a:pt x="493776" y="0"/>
                  </a:lnTo>
                  <a:lnTo>
                    <a:pt x="822960" y="329184"/>
                  </a:lnTo>
                  <a:lnTo>
                    <a:pt x="493776" y="658368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43500" y="2811780"/>
            <a:ext cx="3566160" cy="2057400"/>
            <a:chOff x="0" y="0"/>
            <a:chExt cx="4754880" cy="2743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48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7548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626864" y="0"/>
                  </a:lnTo>
                  <a:cubicBezTo>
                    <a:pt x="4697603" y="0"/>
                    <a:pt x="4754880" y="57277"/>
                    <a:pt x="4754880" y="128016"/>
                  </a:cubicBezTo>
                  <a:lnTo>
                    <a:pt x="4754880" y="2615184"/>
                  </a:lnTo>
                  <a:cubicBezTo>
                    <a:pt x="4754880" y="2685923"/>
                    <a:pt x="4697603" y="2743200"/>
                    <a:pt x="4626864" y="2743200"/>
                  </a:cubicBezTo>
                  <a:lnTo>
                    <a:pt x="128016" y="2743200"/>
                  </a:lnTo>
                  <a:cubicBezTo>
                    <a:pt x="57277" y="2743200"/>
                    <a:pt x="0" y="2685923"/>
                    <a:pt x="0" y="2615184"/>
                  </a:cubicBezTo>
                  <a:close/>
                </a:path>
              </a:pathLst>
            </a:custGeom>
            <a:solidFill>
              <a:srgbClr val="161B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280660" y="2811780"/>
            <a:ext cx="3291840" cy="2057400"/>
            <a:chOff x="0" y="0"/>
            <a:chExt cx="438912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38912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(LangChain)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83980" y="3593592"/>
            <a:ext cx="617220" cy="493776"/>
            <a:chOff x="0" y="0"/>
            <a:chExt cx="822960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">
                  <a:moveTo>
                    <a:pt x="0" y="164592"/>
                  </a:moveTo>
                  <a:lnTo>
                    <a:pt x="493776" y="164592"/>
                  </a:lnTo>
                  <a:lnTo>
                    <a:pt x="493776" y="0"/>
                  </a:lnTo>
                  <a:lnTo>
                    <a:pt x="822960" y="329184"/>
                  </a:lnTo>
                  <a:lnTo>
                    <a:pt x="493776" y="658368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06940" y="2674620"/>
            <a:ext cx="3017520" cy="1028700"/>
            <a:chOff x="0" y="0"/>
            <a:chExt cx="402336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3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23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913632" y="0"/>
                  </a:lnTo>
                  <a:cubicBezTo>
                    <a:pt x="3974211" y="0"/>
                    <a:pt x="4023360" y="49149"/>
                    <a:pt x="4023360" y="109728"/>
                  </a:cubicBezTo>
                  <a:lnTo>
                    <a:pt x="4023360" y="1261872"/>
                  </a:lnTo>
                  <a:cubicBezTo>
                    <a:pt x="4023360" y="1322451"/>
                    <a:pt x="3974211" y="1371600"/>
                    <a:pt x="391363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6940" y="2674620"/>
            <a:ext cx="3017520" cy="1028700"/>
            <a:chOff x="0" y="0"/>
            <a:chExt cx="402336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02336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Tool: Web Search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06940" y="3977640"/>
            <a:ext cx="3017520" cy="1028700"/>
            <a:chOff x="0" y="0"/>
            <a:chExt cx="402336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23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23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913632" y="0"/>
                  </a:lnTo>
                  <a:cubicBezTo>
                    <a:pt x="3974211" y="0"/>
                    <a:pt x="4023360" y="49149"/>
                    <a:pt x="4023360" y="109728"/>
                  </a:cubicBezTo>
                  <a:lnTo>
                    <a:pt x="4023360" y="1261872"/>
                  </a:lnTo>
                  <a:cubicBezTo>
                    <a:pt x="4023360" y="1322451"/>
                    <a:pt x="3974211" y="1371600"/>
                    <a:pt x="391363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CFE8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06940" y="3977640"/>
            <a:ext cx="3017520" cy="1028700"/>
            <a:chOff x="0" y="0"/>
            <a:chExt cx="402336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02336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B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Tool: Calculator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98780" y="3593592"/>
            <a:ext cx="617220" cy="493776"/>
            <a:chOff x="0" y="0"/>
            <a:chExt cx="822960" cy="658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">
                  <a:moveTo>
                    <a:pt x="0" y="164592"/>
                  </a:moveTo>
                  <a:lnTo>
                    <a:pt x="493776" y="164592"/>
                  </a:lnTo>
                  <a:lnTo>
                    <a:pt x="493776" y="0"/>
                  </a:lnTo>
                  <a:lnTo>
                    <a:pt x="822960" y="329184"/>
                  </a:lnTo>
                  <a:lnTo>
                    <a:pt x="493776" y="658368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3E5C7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912215" y="3145155"/>
            <a:ext cx="3173730" cy="1390650"/>
            <a:chOff x="0" y="0"/>
            <a:chExt cx="4231640" cy="1854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316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4231640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4101846" y="0"/>
                  </a:lnTo>
                  <a:cubicBezTo>
                    <a:pt x="4173474" y="0"/>
                    <a:pt x="4231640" y="58166"/>
                    <a:pt x="4231640" y="129794"/>
                  </a:cubicBezTo>
                  <a:lnTo>
                    <a:pt x="4231640" y="1724406"/>
                  </a:lnTo>
                  <a:cubicBezTo>
                    <a:pt x="4231640" y="1796034"/>
                    <a:pt x="4173474" y="1854200"/>
                    <a:pt x="4101846" y="1854200"/>
                  </a:cubicBezTo>
                  <a:lnTo>
                    <a:pt x="129794" y="1854200"/>
                  </a:lnTo>
                  <a:cubicBezTo>
                    <a:pt x="58166" y="1854200"/>
                    <a:pt x="0" y="1796034"/>
                    <a:pt x="0" y="1724406"/>
                  </a:cubicBezTo>
                  <a:close/>
                </a:path>
              </a:pathLst>
            </a:custGeom>
            <a:solidFill>
              <a:srgbClr val="F5F7F8"/>
            </a:solidFill>
            <a:ln w="19050" cap="sq">
              <a:solidFill>
                <a:srgbClr val="DDE2E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921740" y="3154680"/>
            <a:ext cx="3154680" cy="1371600"/>
            <a:chOff x="0" y="0"/>
            <a:chExt cx="420624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2062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D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Answer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5897880"/>
            <a:ext cx="8229600" cy="480060"/>
            <a:chOff x="0" y="0"/>
            <a:chExt cx="1097280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5C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 will walk through, live: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6515100"/>
            <a:ext cx="480060" cy="548640"/>
            <a:chOff x="0" y="0"/>
            <a:chExt cx="6400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t="0" r="-9663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40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1600" y="6515100"/>
            <a:ext cx="15087600" cy="548640"/>
            <a:chOff x="0" y="0"/>
            <a:chExt cx="2011680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Define the agent's role, goal, and backstory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091172"/>
            <a:ext cx="480060" cy="548640"/>
            <a:chOff x="0" y="0"/>
            <a:chExt cx="6400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t="0" r="-9663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40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1600" y="7091172"/>
            <a:ext cx="15087600" cy="548640"/>
            <a:chOff x="0" y="0"/>
            <a:chExt cx="2011680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 two tools: a search function and a calculator function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7667244"/>
            <a:ext cx="480060" cy="548640"/>
            <a:chOff x="0" y="0"/>
            <a:chExt cx="64008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t="0" r="-9663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40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71600" y="7667244"/>
            <a:ext cx="15087600" cy="548640"/>
            <a:chOff x="0" y="0"/>
            <a:chExt cx="201168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 a multi-part question that needs both tools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8243316"/>
            <a:ext cx="480060" cy="548640"/>
            <a:chOff x="0" y="0"/>
            <a:chExt cx="6400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t="0" r="-9663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40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1600" y="8243316"/>
            <a:ext cx="15087600" cy="548640"/>
            <a:chOff x="0" y="0"/>
            <a:chExt cx="201168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Trace the reasoning: which tool fires, in what order, and why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8819388"/>
            <a:ext cx="480060" cy="548640"/>
            <a:chOff x="0" y="0"/>
            <a:chExt cx="64008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008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t="0" r="-9663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40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71600" y="8819388"/>
            <a:ext cx="15087600" cy="548640"/>
            <a:chOff x="0" y="0"/>
            <a:chExt cx="2011680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D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Inspect failure handling: what happens on a bad or empty tool result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AE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1680" y="5760720"/>
            <a:ext cx="6172200" cy="6172200"/>
            <a:chOff x="0" y="0"/>
            <a:chExt cx="8229600" cy="822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3E5C76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645920" y="-2057400"/>
            <a:ext cx="4800600" cy="4800600"/>
            <a:chOff x="0" y="0"/>
            <a:chExt cx="6400800" cy="640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00800">
                  <a:moveTo>
                    <a:pt x="0" y="3200400"/>
                  </a:moveTo>
                  <a:cubicBezTo>
                    <a:pt x="0" y="1432814"/>
                    <a:pt x="1432814" y="0"/>
                    <a:pt x="3200400" y="0"/>
                  </a:cubicBezTo>
                  <a:cubicBezTo>
                    <a:pt x="4967986" y="0"/>
                    <a:pt x="6400800" y="1432814"/>
                    <a:pt x="6400800" y="3200400"/>
                  </a:cubicBezTo>
                  <a:cubicBezTo>
                    <a:pt x="6400800" y="4967986"/>
                    <a:pt x="4967986" y="6400800"/>
                    <a:pt x="3200400" y="6400800"/>
                  </a:cubicBezTo>
                  <a:cubicBezTo>
                    <a:pt x="1432814" y="6400800"/>
                    <a:pt x="0" y="4967986"/>
                    <a:pt x="0" y="3200400"/>
                  </a:cubicBezTo>
                  <a:close/>
                </a:path>
              </a:pathLst>
            </a:custGeom>
            <a:solidFill>
              <a:srgbClr val="00D9C0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3977640"/>
            <a:ext cx="13716000" cy="1371600"/>
            <a:chOff x="0" y="0"/>
            <a:chExt cx="182880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2880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Questions &amp; Discussion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5280660"/>
            <a:ext cx="13030200" cy="685800"/>
            <a:chOff x="0" y="0"/>
            <a:chExt cx="173736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37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FE8E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would you automate with an agent tomorrow?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42840">
            <a:off x="940956" y="6299835"/>
            <a:ext cx="3055858" cy="0"/>
          </a:xfrm>
          <a:prstGeom prst="line">
            <a:avLst/>
          </a:prstGeom>
          <a:ln cap="rnd" w="19050">
            <a:solidFill>
              <a:srgbClr val="00D9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60120" y="6515100"/>
            <a:ext cx="8229600" cy="548640"/>
            <a:chOff x="0" y="0"/>
            <a:chExt cx="10972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A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Thank you!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806940"/>
            <a:ext cx="8229600" cy="411480"/>
            <a:chOff x="0" y="0"/>
            <a:chExt cx="109728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93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&amp; Agentic AI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45000" y="9806940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93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DAHS8zvUkZI</dc:identifier>
  <dcterms:modified xsi:type="dcterms:W3CDTF">2011-08-01T06:04:30Z</dcterms:modified>
  <cp:revision>1</cp:revision>
  <dc:title>Agentic_AI.pptx</dc:title>
</cp:coreProperties>
</file>